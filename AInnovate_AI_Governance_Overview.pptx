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F3864"/>
                </a:solidFill>
                <a:latin typeface="Arial"/>
              </a:defRPr>
            </a:pPr>
            <a:r>
              <a:rPr sz="1300" b="0" i="0" u="none" strike="noStrike">
                <a:solidFill>
                  <a:srgbClr val="1F3864"/>
                </a:solidFill>
                <a:latin typeface="Arial"/>
              </a:rPr>
              <a:t>Risk Count — Before &amp; After Controls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Inherent</c:v>
                </c:pt>
              </c:strCache>
            </c:strRef>
          </c:tx>
          <c:spPr>
            <a:solidFill>
              <a:srgbClr val="C0000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Critical</c:v>
                  </c:pt>
                  <c:pt idx="1">
                    <c:v>High</c:v>
                  </c:pt>
                  <c:pt idx="2">
                    <c:v>Medium</c:v>
                  </c:pt>
                  <c:pt idx="3">
                    <c:v>Low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</c:v>
                </c:pt>
                <c:pt idx="1">
                  <c:v>6</c:v>
                </c:pt>
                <c:pt idx="2">
                  <c:v>5</c:v>
                </c:pt>
                <c:pt idx="3">
                  <c:v>3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Residual</c:v>
                </c:pt>
              </c:strCache>
            </c:strRef>
          </c:tx>
          <c:spPr>
            <a:solidFill>
              <a:srgbClr val="375623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Critical</c:v>
                  </c:pt>
                  <c:pt idx="1">
                    <c:v>High</c:v>
                  </c:pt>
                  <c:pt idx="2">
                    <c:v>Medium</c:v>
                  </c:pt>
                  <c:pt idx="3">
                    <c:v>Low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0</c:v>
                </c:pt>
                <c:pt idx="1">
                  <c:v>3</c:v>
                </c:pt>
                <c:pt idx="2">
                  <c:v>7</c:v>
                </c:pt>
                <c:pt idx="3">
                  <c:v>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0404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0404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132320" y="0"/>
            <a:ext cx="5056632" cy="6858000"/>
          </a:xfrm>
          <a:prstGeom prst="rect">
            <a:avLst/>
          </a:prstGeom>
          <a:solidFill>
            <a:srgbClr val="162850"/>
          </a:solidFill>
          <a:ln w="12700">
            <a:solidFill>
              <a:srgbClr val="16285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498080" y="548640"/>
            <a:ext cx="73152" cy="73152"/>
          </a:xfrm>
          <a:prstGeom prst="ellipse">
            <a:avLst/>
          </a:prstGeom>
          <a:solidFill>
            <a:srgbClr val="2E75B6">
              <a:alpha val="40000"/>
            </a:srgbClr>
          </a:solidFill>
          <a:ln w="12700">
            <a:solidFill>
              <a:srgbClr val="2E75B6">
                <a:alpha val="4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11312" y="548640"/>
            <a:ext cx="73152" cy="73152"/>
          </a:xfrm>
          <a:prstGeom prst="ellipse">
            <a:avLst/>
          </a:prstGeom>
          <a:solidFill>
            <a:srgbClr val="2E75B6">
              <a:alpha val="40000"/>
            </a:srgbClr>
          </a:solidFill>
          <a:ln w="12700">
            <a:solidFill>
              <a:srgbClr val="2E75B6">
                <a:alpha val="4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924544" y="548640"/>
            <a:ext cx="73152" cy="73152"/>
          </a:xfrm>
          <a:prstGeom prst="ellipse">
            <a:avLst/>
          </a:prstGeom>
          <a:solidFill>
            <a:srgbClr val="2E75B6">
              <a:alpha val="40000"/>
            </a:srgbClr>
          </a:solidFill>
          <a:ln w="12700">
            <a:solidFill>
              <a:srgbClr val="2E75B6">
                <a:alpha val="4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637776" y="548640"/>
            <a:ext cx="73152" cy="73152"/>
          </a:xfrm>
          <a:prstGeom prst="ellipse">
            <a:avLst/>
          </a:prstGeom>
          <a:solidFill>
            <a:srgbClr val="2E75B6">
              <a:alpha val="40000"/>
            </a:srgbClr>
          </a:solidFill>
          <a:ln w="12700">
            <a:solidFill>
              <a:srgbClr val="2E75B6">
                <a:alpha val="4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351008" y="548640"/>
            <a:ext cx="73152" cy="73152"/>
          </a:xfrm>
          <a:prstGeom prst="ellipse">
            <a:avLst/>
          </a:prstGeom>
          <a:solidFill>
            <a:srgbClr val="2E75B6">
              <a:alpha val="40000"/>
            </a:srgbClr>
          </a:solidFill>
          <a:ln w="12700">
            <a:solidFill>
              <a:srgbClr val="2E75B6">
                <a:alpha val="4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064240" y="548640"/>
            <a:ext cx="73152" cy="73152"/>
          </a:xfrm>
          <a:prstGeom prst="ellipse">
            <a:avLst/>
          </a:prstGeom>
          <a:solidFill>
            <a:srgbClr val="2E75B6">
              <a:alpha val="40000"/>
            </a:srgbClr>
          </a:solidFill>
          <a:ln w="12700">
            <a:solidFill>
              <a:srgbClr val="2E75B6">
                <a:alpha val="4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498080" y="1554480"/>
            <a:ext cx="73152" cy="73152"/>
          </a:xfrm>
          <a:prstGeom prst="ellipse">
            <a:avLst/>
          </a:prstGeom>
          <a:solidFill>
            <a:srgbClr val="2E75B6">
              <a:alpha val="40000"/>
            </a:srgbClr>
          </a:solidFill>
          <a:ln w="12700">
            <a:solidFill>
              <a:srgbClr val="2E75B6">
                <a:alpha val="4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211312" y="1554480"/>
            <a:ext cx="73152" cy="73152"/>
          </a:xfrm>
          <a:prstGeom prst="ellipse">
            <a:avLst/>
          </a:prstGeom>
          <a:solidFill>
            <a:srgbClr val="2E75B6">
              <a:alpha val="40000"/>
            </a:srgbClr>
          </a:solidFill>
          <a:ln w="12700">
            <a:solidFill>
              <a:srgbClr val="2E75B6">
                <a:alpha val="4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924544" y="1554480"/>
            <a:ext cx="73152" cy="73152"/>
          </a:xfrm>
          <a:prstGeom prst="ellipse">
            <a:avLst/>
          </a:prstGeom>
          <a:solidFill>
            <a:srgbClr val="2E75B6">
              <a:alpha val="40000"/>
            </a:srgbClr>
          </a:solidFill>
          <a:ln w="12700">
            <a:solidFill>
              <a:srgbClr val="2E75B6">
                <a:alpha val="4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637776" y="1554480"/>
            <a:ext cx="73152" cy="73152"/>
          </a:xfrm>
          <a:prstGeom prst="ellipse">
            <a:avLst/>
          </a:prstGeom>
          <a:solidFill>
            <a:srgbClr val="2E75B6">
              <a:alpha val="40000"/>
            </a:srgbClr>
          </a:solidFill>
          <a:ln w="12700">
            <a:solidFill>
              <a:srgbClr val="2E75B6">
                <a:alpha val="4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0351008" y="1554480"/>
            <a:ext cx="73152" cy="73152"/>
          </a:xfrm>
          <a:prstGeom prst="ellipse">
            <a:avLst/>
          </a:prstGeom>
          <a:solidFill>
            <a:srgbClr val="2E75B6">
              <a:alpha val="40000"/>
            </a:srgbClr>
          </a:solidFill>
          <a:ln w="12700">
            <a:solidFill>
              <a:srgbClr val="2E75B6">
                <a:alpha val="4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1064240" y="1554480"/>
            <a:ext cx="73152" cy="73152"/>
          </a:xfrm>
          <a:prstGeom prst="ellipse">
            <a:avLst/>
          </a:prstGeom>
          <a:solidFill>
            <a:srgbClr val="2E75B6">
              <a:alpha val="40000"/>
            </a:srgbClr>
          </a:solidFill>
          <a:ln w="12700">
            <a:solidFill>
              <a:srgbClr val="2E75B6">
                <a:alpha val="40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498080" y="2560320"/>
            <a:ext cx="73152" cy="73152"/>
          </a:xfrm>
          <a:prstGeom prst="ellipse">
            <a:avLst/>
          </a:prstGeom>
          <a:solidFill>
            <a:srgbClr val="2E75B6">
              <a:alpha val="40000"/>
            </a:srgbClr>
          </a:solidFill>
          <a:ln w="12700">
            <a:solidFill>
              <a:srgbClr val="2E75B6">
                <a:alpha val="40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211312" y="2560320"/>
            <a:ext cx="73152" cy="73152"/>
          </a:xfrm>
          <a:prstGeom prst="ellipse">
            <a:avLst/>
          </a:prstGeom>
          <a:solidFill>
            <a:srgbClr val="2E75B6">
              <a:alpha val="40000"/>
            </a:srgbClr>
          </a:solidFill>
          <a:ln w="12700">
            <a:solidFill>
              <a:srgbClr val="2E75B6">
                <a:alpha val="40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924544" y="2560320"/>
            <a:ext cx="73152" cy="73152"/>
          </a:xfrm>
          <a:prstGeom prst="ellipse">
            <a:avLst/>
          </a:prstGeom>
          <a:solidFill>
            <a:srgbClr val="2E75B6">
              <a:alpha val="40000"/>
            </a:srgbClr>
          </a:solidFill>
          <a:ln w="12700">
            <a:solidFill>
              <a:srgbClr val="2E75B6">
                <a:alpha val="40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637776" y="2560320"/>
            <a:ext cx="73152" cy="73152"/>
          </a:xfrm>
          <a:prstGeom prst="ellipse">
            <a:avLst/>
          </a:prstGeom>
          <a:solidFill>
            <a:srgbClr val="2E75B6">
              <a:alpha val="40000"/>
            </a:srgbClr>
          </a:solidFill>
          <a:ln w="12700">
            <a:solidFill>
              <a:srgbClr val="2E75B6">
                <a:alpha val="40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351008" y="2560320"/>
            <a:ext cx="73152" cy="73152"/>
          </a:xfrm>
          <a:prstGeom prst="ellipse">
            <a:avLst/>
          </a:prstGeom>
          <a:solidFill>
            <a:srgbClr val="2E75B6">
              <a:alpha val="40000"/>
            </a:srgbClr>
          </a:solidFill>
          <a:ln w="12700">
            <a:solidFill>
              <a:srgbClr val="2E75B6">
                <a:alpha val="40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1064240" y="2560320"/>
            <a:ext cx="73152" cy="73152"/>
          </a:xfrm>
          <a:prstGeom prst="ellipse">
            <a:avLst/>
          </a:prstGeom>
          <a:solidFill>
            <a:srgbClr val="2E75B6">
              <a:alpha val="40000"/>
            </a:srgbClr>
          </a:solidFill>
          <a:ln w="12700">
            <a:solidFill>
              <a:srgbClr val="2E75B6">
                <a:alpha val="40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498080" y="3566160"/>
            <a:ext cx="73152" cy="73152"/>
          </a:xfrm>
          <a:prstGeom prst="ellipse">
            <a:avLst/>
          </a:prstGeom>
          <a:solidFill>
            <a:srgbClr val="2E75B6">
              <a:alpha val="40000"/>
            </a:srgbClr>
          </a:solidFill>
          <a:ln w="12700">
            <a:solidFill>
              <a:srgbClr val="2E75B6">
                <a:alpha val="40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211312" y="3566160"/>
            <a:ext cx="73152" cy="73152"/>
          </a:xfrm>
          <a:prstGeom prst="ellipse">
            <a:avLst/>
          </a:prstGeom>
          <a:solidFill>
            <a:srgbClr val="2E75B6">
              <a:alpha val="40000"/>
            </a:srgbClr>
          </a:solidFill>
          <a:ln w="12700">
            <a:solidFill>
              <a:srgbClr val="2E75B6">
                <a:alpha val="40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924544" y="3566160"/>
            <a:ext cx="73152" cy="73152"/>
          </a:xfrm>
          <a:prstGeom prst="ellipse">
            <a:avLst/>
          </a:prstGeom>
          <a:solidFill>
            <a:srgbClr val="2E75B6">
              <a:alpha val="40000"/>
            </a:srgbClr>
          </a:solidFill>
          <a:ln w="12700">
            <a:solidFill>
              <a:srgbClr val="2E75B6">
                <a:alpha val="40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9637776" y="3566160"/>
            <a:ext cx="73152" cy="73152"/>
          </a:xfrm>
          <a:prstGeom prst="ellipse">
            <a:avLst/>
          </a:prstGeom>
          <a:solidFill>
            <a:srgbClr val="2E75B6">
              <a:alpha val="40000"/>
            </a:srgbClr>
          </a:solidFill>
          <a:ln w="12700">
            <a:solidFill>
              <a:srgbClr val="2E75B6">
                <a:alpha val="40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0351008" y="3566160"/>
            <a:ext cx="73152" cy="73152"/>
          </a:xfrm>
          <a:prstGeom prst="ellipse">
            <a:avLst/>
          </a:prstGeom>
          <a:solidFill>
            <a:srgbClr val="2E75B6">
              <a:alpha val="40000"/>
            </a:srgbClr>
          </a:solidFill>
          <a:ln w="12700">
            <a:solidFill>
              <a:srgbClr val="2E75B6">
                <a:alpha val="40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1064240" y="3566160"/>
            <a:ext cx="73152" cy="73152"/>
          </a:xfrm>
          <a:prstGeom prst="ellipse">
            <a:avLst/>
          </a:prstGeom>
          <a:solidFill>
            <a:srgbClr val="2E75B6">
              <a:alpha val="40000"/>
            </a:srgbClr>
          </a:solidFill>
          <a:ln w="12700">
            <a:solidFill>
              <a:srgbClr val="2E75B6">
                <a:alpha val="40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498080" y="4572000"/>
            <a:ext cx="73152" cy="73152"/>
          </a:xfrm>
          <a:prstGeom prst="ellipse">
            <a:avLst/>
          </a:prstGeom>
          <a:solidFill>
            <a:srgbClr val="2E75B6">
              <a:alpha val="40000"/>
            </a:srgbClr>
          </a:solidFill>
          <a:ln w="12700">
            <a:solidFill>
              <a:srgbClr val="2E75B6">
                <a:alpha val="40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211312" y="4572000"/>
            <a:ext cx="73152" cy="73152"/>
          </a:xfrm>
          <a:prstGeom prst="ellipse">
            <a:avLst/>
          </a:prstGeom>
          <a:solidFill>
            <a:srgbClr val="2E75B6">
              <a:alpha val="40000"/>
            </a:srgbClr>
          </a:solidFill>
          <a:ln w="12700">
            <a:solidFill>
              <a:srgbClr val="2E75B6">
                <a:alpha val="40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924544" y="4572000"/>
            <a:ext cx="73152" cy="73152"/>
          </a:xfrm>
          <a:prstGeom prst="ellipse">
            <a:avLst/>
          </a:prstGeom>
          <a:solidFill>
            <a:srgbClr val="2E75B6">
              <a:alpha val="40000"/>
            </a:srgbClr>
          </a:solidFill>
          <a:ln w="12700">
            <a:solidFill>
              <a:srgbClr val="2E75B6">
                <a:alpha val="40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9637776" y="4572000"/>
            <a:ext cx="73152" cy="73152"/>
          </a:xfrm>
          <a:prstGeom prst="ellipse">
            <a:avLst/>
          </a:prstGeom>
          <a:solidFill>
            <a:srgbClr val="2E75B6">
              <a:alpha val="40000"/>
            </a:srgbClr>
          </a:solidFill>
          <a:ln w="12700">
            <a:solidFill>
              <a:srgbClr val="2E75B6">
                <a:alpha val="40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10351008" y="4572000"/>
            <a:ext cx="73152" cy="73152"/>
          </a:xfrm>
          <a:prstGeom prst="ellipse">
            <a:avLst/>
          </a:prstGeom>
          <a:solidFill>
            <a:srgbClr val="2E75B6">
              <a:alpha val="40000"/>
            </a:srgbClr>
          </a:solidFill>
          <a:ln w="12700">
            <a:solidFill>
              <a:srgbClr val="2E75B6">
                <a:alpha val="40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11064240" y="4572000"/>
            <a:ext cx="73152" cy="73152"/>
          </a:xfrm>
          <a:prstGeom prst="ellipse">
            <a:avLst/>
          </a:prstGeom>
          <a:solidFill>
            <a:srgbClr val="2E75B6">
              <a:alpha val="40000"/>
            </a:srgbClr>
          </a:solidFill>
          <a:ln w="12700">
            <a:solidFill>
              <a:srgbClr val="2E75B6">
                <a:alpha val="4000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57200" y="731520"/>
            <a:ext cx="6400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spc="400" kern="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AInnovate Inc.</a:t>
            </a:r>
            <a:endParaRPr lang="en-US" sz="1800" dirty="0"/>
          </a:p>
        </p:txBody>
      </p:sp>
      <p:sp>
        <p:nvSpPr>
          <p:cNvPr id="35" name="Text 33"/>
          <p:cNvSpPr/>
          <p:nvPr/>
        </p:nvSpPr>
        <p:spPr>
          <a:xfrm>
            <a:off x="457200" y="1417320"/>
            <a:ext cx="64922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Governance Framework</a:t>
            </a:r>
            <a:endParaRPr lang="en-US" sz="4200" dirty="0"/>
          </a:p>
        </p:txBody>
      </p:sp>
      <p:sp>
        <p:nvSpPr>
          <p:cNvPr id="36" name="Text 34"/>
          <p:cNvSpPr/>
          <p:nvPr/>
        </p:nvSpPr>
        <p:spPr>
          <a:xfrm>
            <a:off x="457200" y="2468880"/>
            <a:ext cx="6492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BDD7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&amp; Steering Committee Overview</a:t>
            </a:r>
            <a:endParaRPr lang="en-US" sz="2400" dirty="0"/>
          </a:p>
        </p:txBody>
      </p:sp>
      <p:sp>
        <p:nvSpPr>
          <p:cNvPr id="37" name="Shape 35"/>
          <p:cNvSpPr/>
          <p:nvPr/>
        </p:nvSpPr>
        <p:spPr>
          <a:xfrm>
            <a:off x="457200" y="3182112"/>
            <a:ext cx="5029200" cy="36576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57200" y="333756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DD7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GenStudio Generative AI  |  AIN-GOV Series  |  Version 1.0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457200" y="393192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DD7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by: </a:t>
            </a:r>
            <a:pPr indent="0" marL="0">
              <a:buNone/>
            </a:pPr>
            <a:r>
              <a:rPr lang="en-US" sz="1300" dirty="0">
                <a:solidFill>
                  <a:srgbClr val="BDD7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Mihir Trivedi, AI Governance Lead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457200" y="4334256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DD7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Date: </a:t>
            </a:r>
            <a:pPr indent="0" marL="0">
              <a:buNone/>
            </a:pPr>
            <a:r>
              <a:rPr lang="en-US" sz="1300" dirty="0">
                <a:solidFill>
                  <a:srgbClr val="BDD7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February 2026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457200" y="4736592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Classification: </a:t>
            </a:r>
            <a:pPr indent="0" marL="0">
              <a:buNone/>
            </a:pPr>
            <a:r>
              <a:rPr lang="en-US" sz="13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7406640" y="548640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1500" dirty="0"/>
          </a:p>
        </p:txBody>
      </p:sp>
      <p:sp>
        <p:nvSpPr>
          <p:cNvPr id="43" name="Text 41"/>
          <p:cNvSpPr/>
          <p:nvPr/>
        </p:nvSpPr>
        <p:spPr>
          <a:xfrm>
            <a:off x="7406640" y="1097280"/>
            <a:ext cx="448056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Executive Summary</a:t>
            </a:r>
            <a:endParaRPr lang="en-US" sz="13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What is GenStudio?</a:t>
            </a:r>
            <a:endParaRPr lang="en-US" sz="13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Governance Framework</a:t>
            </a:r>
            <a:endParaRPr lang="en-US" sz="13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Key Risks &amp; Controls</a:t>
            </a:r>
            <a:endParaRPr lang="en-US" sz="13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Bias &amp; Fairness</a:t>
            </a:r>
            <a:endParaRPr lang="en-US" sz="13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 Incident Response</a:t>
            </a:r>
            <a:endParaRPr lang="en-US" sz="13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 Regulatory Landscape</a:t>
            </a:r>
            <a:endParaRPr lang="en-US" sz="13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 Implementation Roadmap</a:t>
            </a:r>
            <a:endParaRPr lang="en-US" sz="13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 KPIs &amp; Monitoring</a:t>
            </a:r>
            <a:endParaRPr lang="en-US" sz="13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 Board Actions Required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58368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65836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0"/>
            <a:ext cx="1182319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| Executive Summary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65836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DD7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AInnovate Inc.  |  AI Governance Framework  |  CONFIDENTIAL  |  February 2026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9875520" y="658368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DD7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AIN-GOV  v1.0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20040" y="822960"/>
            <a:ext cx="3749040" cy="182880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20040" y="868680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WE'VE BUILT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02920" y="1280160"/>
            <a:ext cx="3383280" cy="27432"/>
          </a:xfrm>
          <a:prstGeom prst="rect">
            <a:avLst/>
          </a:prstGeom>
          <a:solidFill>
            <a:srgbClr val="C9A84C">
              <a:alpha val="60000"/>
            </a:srgbClr>
          </a:solidFill>
          <a:ln w="12700">
            <a:solidFill>
              <a:srgbClr val="C9A84C">
                <a:alpha val="6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1371600"/>
            <a:ext cx="347472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comprehensive AI governance framework covering policy, risk assessment, bias methodology, and incident response — aligned to NIST AI RMF and ISO 42001.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251960" y="822960"/>
            <a:ext cx="3749040" cy="182880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251960" y="868680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434840" y="1280160"/>
            <a:ext cx="3383280" cy="27432"/>
          </a:xfrm>
          <a:prstGeom prst="rect">
            <a:avLst/>
          </a:prstGeom>
          <a:solidFill>
            <a:srgbClr val="C9A84C">
              <a:alpha val="60000"/>
            </a:srgbClr>
          </a:solidFill>
          <a:ln w="12700">
            <a:solidFill>
              <a:srgbClr val="C9A84C">
                <a:alpha val="60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389120" y="1371600"/>
            <a:ext cx="347472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GenStudio processes marketing content at scale. Without governance, risks include harmful outputs, regulatory fines (EU AI Act: up to €15M), and reputational damage.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8183880" y="822960"/>
            <a:ext cx="3749040" cy="182880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8183880" y="868680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ASK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8366760" y="1280160"/>
            <a:ext cx="3383280" cy="27432"/>
          </a:xfrm>
          <a:prstGeom prst="rect">
            <a:avLst/>
          </a:prstGeom>
          <a:solidFill>
            <a:srgbClr val="C9A84C">
              <a:alpha val="60000"/>
            </a:srgbClr>
          </a:solidFill>
          <a:ln w="12700">
            <a:solidFill>
              <a:srgbClr val="C9A84C">
                <a:alpha val="60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321040" y="1371600"/>
            <a:ext cx="347472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 the AI Governance Policy; note the risk posture; endorse the ISO 42001 certification roadmap; confirm AI governance KPI reporting cadence.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320040" y="2880360"/>
            <a:ext cx="2743200" cy="146304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320040" y="2953512"/>
            <a:ext cx="2743200" cy="848563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3800" dirty="0"/>
          </a:p>
        </p:txBody>
      </p:sp>
      <p:sp>
        <p:nvSpPr>
          <p:cNvPr id="22" name="Text 20"/>
          <p:cNvSpPr/>
          <p:nvPr/>
        </p:nvSpPr>
        <p:spPr>
          <a:xfrm>
            <a:off x="320040" y="3787445"/>
            <a:ext cx="2743200" cy="555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246120" y="2880360"/>
            <a:ext cx="2743200" cy="146304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3246120" y="2953512"/>
            <a:ext cx="2743200" cy="848563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3800" dirty="0"/>
          </a:p>
        </p:txBody>
      </p:sp>
      <p:sp>
        <p:nvSpPr>
          <p:cNvPr id="25" name="Text 23"/>
          <p:cNvSpPr/>
          <p:nvPr/>
        </p:nvSpPr>
        <p:spPr>
          <a:xfrm>
            <a:off x="3246120" y="3787445"/>
            <a:ext cx="2743200" cy="555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Risks Assessed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GenStudio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172200" y="2880360"/>
            <a:ext cx="2743200" cy="1463040"/>
          </a:xfrm>
          <a:prstGeom prst="rect">
            <a:avLst/>
          </a:prstGeom>
          <a:solidFill>
            <a:srgbClr val="4472C4"/>
          </a:solidFill>
          <a:ln w="12700">
            <a:solidFill>
              <a:srgbClr val="4472C4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6172200" y="2953512"/>
            <a:ext cx="2743200" cy="848563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3800" dirty="0"/>
          </a:p>
        </p:txBody>
      </p:sp>
      <p:sp>
        <p:nvSpPr>
          <p:cNvPr id="28" name="Text 26"/>
          <p:cNvSpPr/>
          <p:nvPr/>
        </p:nvSpPr>
        <p:spPr>
          <a:xfrm>
            <a:off x="6172200" y="3787445"/>
            <a:ext cx="2743200" cy="555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Taxonomy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Items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9098280" y="2880360"/>
            <a:ext cx="2743200" cy="1463040"/>
          </a:xfrm>
          <a:prstGeom prst="rect">
            <a:avLst/>
          </a:prstGeom>
          <a:solidFill>
            <a:srgbClr val="607080"/>
          </a:solidFill>
          <a:ln w="12700">
            <a:solidFill>
              <a:srgbClr val="607080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9098280" y="2953512"/>
            <a:ext cx="2743200" cy="848563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P1–P4</a:t>
            </a:r>
            <a:endParaRPr lang="en-US" sz="3800" dirty="0"/>
          </a:p>
        </p:txBody>
      </p:sp>
      <p:sp>
        <p:nvSpPr>
          <p:cNvPr id="31" name="Text 29"/>
          <p:cNvSpPr/>
          <p:nvPr/>
        </p:nvSpPr>
        <p:spPr>
          <a:xfrm>
            <a:off x="9098280" y="3787445"/>
            <a:ext cx="2743200" cy="555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 Severity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Tiers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320040" y="4526280"/>
            <a:ext cx="11521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0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 effective: 01 February 2026  |  Prepared by Mihir Trivedi, AI Governance Lead  |  ISO 42001 target: Q4 2026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58368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65836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0"/>
            <a:ext cx="1182319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| What is GenStudio?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65836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DD7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AInnovate Inc.  |  AI Governance Framework  |  CONFIDENTIAL  |  February 2026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9875520" y="658368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DD7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AIN-GOV  v1.0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20040" y="822960"/>
            <a:ext cx="5120640" cy="480060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11480" y="914400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spc="400" kern="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GENSTUDIO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411480" y="1417320"/>
            <a:ext cx="4937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BDD7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Generative AI Ad Copy Platform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40080" y="1828800"/>
            <a:ext cx="4480560" cy="27432"/>
          </a:xfrm>
          <a:prstGeom prst="rect">
            <a:avLst/>
          </a:prstGeom>
          <a:solidFill>
            <a:srgbClr val="C9A84C">
              <a:alpha val="60000"/>
            </a:srgbClr>
          </a:solidFill>
          <a:ln w="12700">
            <a:solidFill>
              <a:srgbClr val="C9A84C">
                <a:alpha val="6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1965960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Model: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664208" y="1965960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Fine-tuned LLaMA-3-70B on AWS SageMaker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02920" y="2569464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Users: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664208" y="2569464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 professionals generating ad copy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02920" y="3172968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664208" y="3172968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Headlines, body copy, CTAs, social captions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02920" y="3776472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Scale: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664208" y="3776472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 to 10,000 generations / day at capacity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02920" y="4379976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Infra: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664208" y="4379976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eu-west-1  |  VPC, KMS, IAM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02920" y="4983480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Launch: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664208" y="4983480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Production: February 2026  |  v1.0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760720" y="822960"/>
            <a:ext cx="6126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5760720" y="1298448"/>
            <a:ext cx="502920" cy="566928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760720" y="1298448"/>
            <a:ext cx="502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27" name="Shape 25"/>
          <p:cNvSpPr/>
          <p:nvPr/>
        </p:nvSpPr>
        <p:spPr>
          <a:xfrm>
            <a:off x="6291072" y="1298448"/>
            <a:ext cx="557784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400800" y="1325880"/>
            <a:ext cx="5394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Prompt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400800" y="1591056"/>
            <a:ext cx="5394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0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Marketer enters campaign brief, audience, product details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916168" y="1865376"/>
            <a:ext cx="164592" cy="219456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760720" y="2084832"/>
            <a:ext cx="502920" cy="566928"/>
          </a:xfrm>
          <a:prstGeom prst="rect">
            <a:avLst/>
          </a:prstGeom>
          <a:solidFill>
            <a:srgbClr val="4472C4"/>
          </a:solidFill>
          <a:ln w="12700">
            <a:solidFill>
              <a:srgbClr val="4472C4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760720" y="2084832"/>
            <a:ext cx="502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33" name="Shape 31"/>
          <p:cNvSpPr/>
          <p:nvPr/>
        </p:nvSpPr>
        <p:spPr>
          <a:xfrm>
            <a:off x="6291072" y="2084832"/>
            <a:ext cx="557784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400800" y="2112264"/>
            <a:ext cx="5394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Filter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6400800" y="2377440"/>
            <a:ext cx="5394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0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screened for prompt injection &amp; policy violations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5916168" y="2651760"/>
            <a:ext cx="164592" cy="219456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760720" y="2871216"/>
            <a:ext cx="502920" cy="566928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760720" y="2871216"/>
            <a:ext cx="502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39" name="Shape 37"/>
          <p:cNvSpPr/>
          <p:nvPr/>
        </p:nvSpPr>
        <p:spPr>
          <a:xfrm>
            <a:off x="6291072" y="2871216"/>
            <a:ext cx="557784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400800" y="2898648"/>
            <a:ext cx="5394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Inference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6400800" y="3163824"/>
            <a:ext cx="5394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0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Fine-tuned LLaMA-3-70B generates ad copy on AWS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5916168" y="3438144"/>
            <a:ext cx="164592" cy="219456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5760720" y="3657600"/>
            <a:ext cx="502920" cy="566928"/>
          </a:xfrm>
          <a:prstGeom prst="rect">
            <a:avLst/>
          </a:prstGeom>
          <a:solidFill>
            <a:srgbClr val="4472C4"/>
          </a:solidFill>
          <a:ln w="12700">
            <a:solidFill>
              <a:srgbClr val="4472C4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760720" y="3657600"/>
            <a:ext cx="502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45" name="Shape 43"/>
          <p:cNvSpPr/>
          <p:nvPr/>
        </p:nvSpPr>
        <p:spPr>
          <a:xfrm>
            <a:off x="6291072" y="3657600"/>
            <a:ext cx="557784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400800" y="3685032"/>
            <a:ext cx="5394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Filter</a:t>
            </a:r>
            <a:endParaRPr lang="en-US" sz="1300" dirty="0"/>
          </a:p>
        </p:txBody>
      </p:sp>
      <p:sp>
        <p:nvSpPr>
          <p:cNvPr id="47" name="Text 45"/>
          <p:cNvSpPr/>
          <p:nvPr/>
        </p:nvSpPr>
        <p:spPr>
          <a:xfrm>
            <a:off x="6400800" y="3950208"/>
            <a:ext cx="5394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0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safety, PII detection, bias checks applied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5916168" y="4224528"/>
            <a:ext cx="164592" cy="219456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5760720" y="4443984"/>
            <a:ext cx="502920" cy="566928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5760720" y="4443984"/>
            <a:ext cx="502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000" dirty="0"/>
          </a:p>
        </p:txBody>
      </p:sp>
      <p:sp>
        <p:nvSpPr>
          <p:cNvPr id="51" name="Shape 49"/>
          <p:cNvSpPr/>
          <p:nvPr/>
        </p:nvSpPr>
        <p:spPr>
          <a:xfrm>
            <a:off x="6291072" y="4443984"/>
            <a:ext cx="557784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400800" y="4471416"/>
            <a:ext cx="5394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Review</a:t>
            </a:r>
            <a:endParaRPr lang="en-US" sz="1300" dirty="0"/>
          </a:p>
        </p:txBody>
      </p:sp>
      <p:sp>
        <p:nvSpPr>
          <p:cNvPr id="53" name="Text 51"/>
          <p:cNvSpPr/>
          <p:nvPr/>
        </p:nvSpPr>
        <p:spPr>
          <a:xfrm>
            <a:off x="6400800" y="4736592"/>
            <a:ext cx="5394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0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Mandatory marketer review step before publication</a:t>
            </a:r>
            <a:endParaRPr lang="en-US" sz="1100" dirty="0"/>
          </a:p>
        </p:txBody>
      </p:sp>
      <p:sp>
        <p:nvSpPr>
          <p:cNvPr id="54" name="Shape 52"/>
          <p:cNvSpPr/>
          <p:nvPr/>
        </p:nvSpPr>
        <p:spPr>
          <a:xfrm>
            <a:off x="5760720" y="5440680"/>
            <a:ext cx="6126480" cy="475488"/>
          </a:xfrm>
          <a:prstGeom prst="rect">
            <a:avLst/>
          </a:prstGeom>
          <a:solidFill>
            <a:srgbClr val="FFF2C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5870448" y="5440680"/>
            <a:ext cx="590702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F4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 AI Act Classification:  LIMITED RISK  (Art. 52 — transparency obligations apply)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58368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65836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0"/>
            <a:ext cx="1182319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| AI Governance Framework Structure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65836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DD7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AInnovate Inc.  |  AI Governance Framework  |  CONFIDENTIAL  |  February 2026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9875520" y="658368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DD7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AIN-GOV  v1.0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320040" y="749808"/>
            <a:ext cx="11521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0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on NIST AI RMF 1.0  ·  ISO/IEC 42001:2023  ·  EU AI Act  ·  ISO 27001:2022 (certified)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20040" y="1188720"/>
            <a:ext cx="2788920" cy="59436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" y="118872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GV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914400" y="1188720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320040" y="1783080"/>
            <a:ext cx="2788920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29768" y="1883664"/>
            <a:ext cx="2560320" cy="2148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25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Governance Committee</a:t>
            </a:r>
            <a:endParaRPr lang="en-US" sz="125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25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Roles &amp; responsibilities</a:t>
            </a:r>
            <a:endParaRPr lang="en-US" sz="125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25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Model Registry</a:t>
            </a:r>
            <a:endParaRPr lang="en-US" sz="125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25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&amp; standards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3264408" y="1188720"/>
            <a:ext cx="2788920" cy="59436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64408" y="118872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MP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3858768" y="1188720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3264408" y="1783080"/>
            <a:ext cx="2788920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374136" y="1883664"/>
            <a:ext cx="2560320" cy="2148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25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 identification</a:t>
            </a:r>
            <a:endParaRPr lang="en-US" sz="125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25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classification</a:t>
            </a:r>
            <a:endParaRPr lang="en-US" sz="125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25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Stakeholder impact</a:t>
            </a:r>
            <a:endParaRPr lang="en-US" sz="125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25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provenance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208776" y="1188720"/>
            <a:ext cx="2788920" cy="594360"/>
          </a:xfrm>
          <a:prstGeom prst="rect">
            <a:avLst/>
          </a:prstGeom>
          <a:solidFill>
            <a:srgbClr val="4472C4"/>
          </a:solidFill>
          <a:ln w="12700">
            <a:solidFill>
              <a:srgbClr val="4472C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208776" y="118872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6803136" y="1188720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6208776" y="1783080"/>
            <a:ext cx="2788920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318504" y="1883664"/>
            <a:ext cx="2560320" cy="2148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25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Bias assessments</a:t>
            </a:r>
            <a:endParaRPr lang="en-US" sz="125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25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evaluation</a:t>
            </a:r>
            <a:endParaRPr lang="en-US" sz="125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25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Drift monitoring</a:t>
            </a:r>
            <a:endParaRPr lang="en-US" sz="125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25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Red-teaming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9153144" y="1188720"/>
            <a:ext cx="2788920" cy="594360"/>
          </a:xfrm>
          <a:prstGeom prst="rect">
            <a:avLst/>
          </a:prstGeom>
          <a:solidFill>
            <a:srgbClr val="607080"/>
          </a:solidFill>
          <a:ln w="12700">
            <a:solidFill>
              <a:srgbClr val="60708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153144" y="118872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MG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9747504" y="1188720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</a:t>
            </a:r>
            <a:endParaRPr lang="en-US" sz="1800" dirty="0"/>
          </a:p>
        </p:txBody>
      </p:sp>
      <p:sp>
        <p:nvSpPr>
          <p:cNvPr id="27" name="Shape 25"/>
          <p:cNvSpPr/>
          <p:nvPr/>
        </p:nvSpPr>
        <p:spPr>
          <a:xfrm>
            <a:off x="9153144" y="1783080"/>
            <a:ext cx="2788920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262872" y="1883664"/>
            <a:ext cx="2560320" cy="2148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25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 response</a:t>
            </a:r>
            <a:endParaRPr lang="en-US" sz="125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25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Remediation</a:t>
            </a:r>
            <a:endParaRPr lang="en-US" sz="125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25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treatment</a:t>
            </a:r>
            <a:endParaRPr lang="en-US" sz="125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25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improvement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320040" y="4251960"/>
            <a:ext cx="11521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DELIVERABLE SUITE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320040" y="4617720"/>
            <a:ext cx="2788920" cy="969264"/>
          </a:xfrm>
          <a:prstGeom prst="rect">
            <a:avLst/>
          </a:prstGeom>
          <a:solidFill>
            <a:srgbClr val="DEEAF1"/>
          </a:solidFill>
          <a:ln w="12700">
            <a:solidFill>
              <a:srgbClr val="BDD7E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11480" y="4663440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AIN-GOV-001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11480" y="4919472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Governance Policy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411480" y="5239512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0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NIST: GV  |  ISO: Cl. 4–6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3264408" y="4617720"/>
            <a:ext cx="2788920" cy="969264"/>
          </a:xfrm>
          <a:prstGeom prst="rect">
            <a:avLst/>
          </a:prstGeom>
          <a:solidFill>
            <a:srgbClr val="DEEAF1"/>
          </a:solidFill>
          <a:ln w="12700">
            <a:solidFill>
              <a:srgbClr val="BDD7EE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355848" y="4663440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AIN-GOV-005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3355848" y="4919472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Assessment Framework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3355848" y="5239512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0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NIST: MP / MS  |  ISO: Cl. 6.1 / 8.1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6208776" y="4617720"/>
            <a:ext cx="2788920" cy="969264"/>
          </a:xfrm>
          <a:prstGeom prst="rect">
            <a:avLst/>
          </a:prstGeom>
          <a:solidFill>
            <a:srgbClr val="DEEAF1"/>
          </a:solidFill>
          <a:ln w="12700">
            <a:solidFill>
              <a:srgbClr val="BDD7EE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300216" y="4663440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AIN-GOV-002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6300216" y="4919472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Bias Assessment Methodology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6300216" y="5239512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0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NIST: MS-2.3  |  ISO: Cl. 8.5 / A.6.2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9153144" y="4617720"/>
            <a:ext cx="2788920" cy="969264"/>
          </a:xfrm>
          <a:prstGeom prst="rect">
            <a:avLst/>
          </a:prstGeom>
          <a:solidFill>
            <a:srgbClr val="DEEAF1"/>
          </a:solidFill>
          <a:ln w="12700">
            <a:solidFill>
              <a:srgbClr val="BDD7EE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9244584" y="4663440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AIN-GOV-004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9244584" y="4919472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 Response Plan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9244584" y="5239512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0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NIST: MG-3 / 4  |  ISO: Cl. 10.1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58368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65836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0"/>
            <a:ext cx="1182319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| Key Risks &amp; Controls — GenStudio Risk Posture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65836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DD7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AInnovate Inc.  |  AI Governance Framework  |  CONFIDENTIAL  |  February 2026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9875520" y="658368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DD7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AIN-GOV  v1.0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320040" y="749808"/>
            <a:ext cx="115214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0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Based on formal risk assessment AIN-GOV-005-GS (15 risks across 7 categories). Residual risk after controls.</a:t>
            </a:r>
            <a:endParaRPr lang="en-US" sz="1200" dirty="0"/>
          </a:p>
        </p:txBody>
      </p:sp>
      <p:graphicFrame>
        <p:nvGraphicFramePr>
          <p:cNvPr id="9" name="Chart 0" descr=""/>
          <p:cNvGraphicFramePr/>
          <p:nvPr/>
        </p:nvGraphicFramePr>
        <p:xfrm>
          <a:off x="320040" y="1143000"/>
          <a:ext cx="5029200" cy="3291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0" name="Text 7"/>
          <p:cNvSpPr/>
          <p:nvPr/>
        </p:nvSpPr>
        <p:spPr>
          <a:xfrm>
            <a:off x="5623560" y="109728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RESIDUAL HIGH RISKS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5623560" y="1481328"/>
            <a:ext cx="6400800" cy="621792"/>
          </a:xfrm>
          <a:prstGeom prst="rect">
            <a:avLst/>
          </a:prstGeom>
          <a:solidFill>
            <a:srgbClr val="DEEAF1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5623560" y="1481328"/>
            <a:ext cx="594360" cy="621792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623560" y="1481328"/>
            <a:ext cx="594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R-01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6291072" y="152704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Hallucination in Ad Copy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6291072" y="1819656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0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Control: RAG pipeline — Q2 2026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10058400" y="1636776"/>
            <a:ext cx="914400" cy="310896"/>
          </a:xfrm>
          <a:prstGeom prst="rect">
            <a:avLst/>
          </a:prstGeom>
          <a:solidFill>
            <a:srgbClr val="C65911"/>
          </a:solidFill>
          <a:ln w="12700">
            <a:solidFill>
              <a:srgbClr val="C65911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10058400" y="1636776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5623560" y="2176272"/>
            <a:ext cx="640080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5623560" y="2176272"/>
            <a:ext cx="594360" cy="621792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5623560" y="2176272"/>
            <a:ext cx="594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R-02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6291072" y="222199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Demographic Bias Output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6291072" y="2514600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0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Control: Semi-annual bias assessments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10058400" y="2331720"/>
            <a:ext cx="914400" cy="310896"/>
          </a:xfrm>
          <a:prstGeom prst="rect">
            <a:avLst/>
          </a:prstGeom>
          <a:solidFill>
            <a:srgbClr val="C65911"/>
          </a:solidFill>
          <a:ln w="12700">
            <a:solidFill>
              <a:srgbClr val="C65911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10058400" y="2331720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1000" dirty="0"/>
          </a:p>
        </p:txBody>
      </p:sp>
      <p:sp>
        <p:nvSpPr>
          <p:cNvPr id="25" name="Shape 22"/>
          <p:cNvSpPr/>
          <p:nvPr/>
        </p:nvSpPr>
        <p:spPr>
          <a:xfrm>
            <a:off x="5623560" y="2871216"/>
            <a:ext cx="6400800" cy="621792"/>
          </a:xfrm>
          <a:prstGeom prst="rect">
            <a:avLst/>
          </a:prstGeom>
          <a:solidFill>
            <a:srgbClr val="DEEAF1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5623560" y="2871216"/>
            <a:ext cx="594360" cy="621792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5623560" y="2871216"/>
            <a:ext cx="594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R-03</a:t>
            </a:r>
            <a:endParaRPr lang="en-US" sz="900" dirty="0"/>
          </a:p>
        </p:txBody>
      </p:sp>
      <p:sp>
        <p:nvSpPr>
          <p:cNvPr id="28" name="Text 25"/>
          <p:cNvSpPr/>
          <p:nvPr/>
        </p:nvSpPr>
        <p:spPr>
          <a:xfrm>
            <a:off x="6291072" y="2916936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Injection Attack</a:t>
            </a:r>
            <a:endParaRPr lang="en-US" sz="1200" dirty="0"/>
          </a:p>
        </p:txBody>
      </p:sp>
      <p:sp>
        <p:nvSpPr>
          <p:cNvPr id="29" name="Text 26"/>
          <p:cNvSpPr/>
          <p:nvPr/>
        </p:nvSpPr>
        <p:spPr>
          <a:xfrm>
            <a:off x="6291072" y="3209544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0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Control: Multi-layer sanitisation + red-team</a:t>
            </a:r>
            <a:endParaRPr lang="en-US" sz="1000" dirty="0"/>
          </a:p>
        </p:txBody>
      </p:sp>
      <p:sp>
        <p:nvSpPr>
          <p:cNvPr id="30" name="Shape 27"/>
          <p:cNvSpPr/>
          <p:nvPr/>
        </p:nvSpPr>
        <p:spPr>
          <a:xfrm>
            <a:off x="10058400" y="3026664"/>
            <a:ext cx="914400" cy="310896"/>
          </a:xfrm>
          <a:prstGeom prst="rect">
            <a:avLst/>
          </a:prstGeom>
          <a:solidFill>
            <a:srgbClr val="C65911"/>
          </a:solidFill>
          <a:ln w="12700">
            <a:solidFill>
              <a:srgbClr val="C65911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10058400" y="3026664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1000" dirty="0"/>
          </a:p>
        </p:txBody>
      </p:sp>
      <p:sp>
        <p:nvSpPr>
          <p:cNvPr id="32" name="Shape 29"/>
          <p:cNvSpPr/>
          <p:nvPr/>
        </p:nvSpPr>
        <p:spPr>
          <a:xfrm>
            <a:off x="5623560" y="3566160"/>
            <a:ext cx="640080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5623560" y="3566160"/>
            <a:ext cx="594360" cy="621792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5623560" y="3566160"/>
            <a:ext cx="594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R-10</a:t>
            </a:r>
            <a:endParaRPr lang="en-US" sz="900" dirty="0"/>
          </a:p>
        </p:txBody>
      </p:sp>
      <p:sp>
        <p:nvSpPr>
          <p:cNvPr id="35" name="Text 32"/>
          <p:cNvSpPr/>
          <p:nvPr/>
        </p:nvSpPr>
        <p:spPr>
          <a:xfrm>
            <a:off x="6291072" y="361188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 AI Act Non-Compliance</a:t>
            </a:r>
            <a:endParaRPr lang="en-US" sz="1200" dirty="0"/>
          </a:p>
        </p:txBody>
      </p:sp>
      <p:sp>
        <p:nvSpPr>
          <p:cNvPr id="36" name="Text 33"/>
          <p:cNvSpPr/>
          <p:nvPr/>
        </p:nvSpPr>
        <p:spPr>
          <a:xfrm>
            <a:off x="6291072" y="3904488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0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Control: Conformity assessment by Apr 2026</a:t>
            </a:r>
            <a:endParaRPr lang="en-US" sz="1000" dirty="0"/>
          </a:p>
        </p:txBody>
      </p:sp>
      <p:sp>
        <p:nvSpPr>
          <p:cNvPr id="37" name="Shape 34"/>
          <p:cNvSpPr/>
          <p:nvPr/>
        </p:nvSpPr>
        <p:spPr>
          <a:xfrm>
            <a:off x="10058400" y="3721608"/>
            <a:ext cx="914400" cy="310896"/>
          </a:xfrm>
          <a:prstGeom prst="rect">
            <a:avLst/>
          </a:prstGeom>
          <a:solidFill>
            <a:srgbClr val="C65911"/>
          </a:solidFill>
          <a:ln w="12700">
            <a:solidFill>
              <a:srgbClr val="C65911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10058400" y="3721608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1000" dirty="0"/>
          </a:p>
        </p:txBody>
      </p:sp>
      <p:sp>
        <p:nvSpPr>
          <p:cNvPr id="39" name="Shape 36"/>
          <p:cNvSpPr/>
          <p:nvPr/>
        </p:nvSpPr>
        <p:spPr>
          <a:xfrm>
            <a:off x="5623560" y="4261104"/>
            <a:ext cx="6400800" cy="621792"/>
          </a:xfrm>
          <a:prstGeom prst="rect">
            <a:avLst/>
          </a:prstGeom>
          <a:solidFill>
            <a:srgbClr val="DEEAF1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40" name="Shape 37"/>
          <p:cNvSpPr/>
          <p:nvPr/>
        </p:nvSpPr>
        <p:spPr>
          <a:xfrm>
            <a:off x="5623560" y="4261104"/>
            <a:ext cx="594360" cy="621792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5623560" y="4261104"/>
            <a:ext cx="594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R-12</a:t>
            </a:r>
            <a:endParaRPr lang="en-US" sz="900" dirty="0"/>
          </a:p>
        </p:txBody>
      </p:sp>
      <p:sp>
        <p:nvSpPr>
          <p:cNvPr id="42" name="Text 39"/>
          <p:cNvSpPr/>
          <p:nvPr/>
        </p:nvSpPr>
        <p:spPr>
          <a:xfrm>
            <a:off x="6291072" y="4306824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Reputational / Viral Harm</a:t>
            </a:r>
            <a:endParaRPr lang="en-US" sz="1200" dirty="0"/>
          </a:p>
        </p:txBody>
      </p:sp>
      <p:sp>
        <p:nvSpPr>
          <p:cNvPr id="43" name="Text 40"/>
          <p:cNvSpPr/>
          <p:nvPr/>
        </p:nvSpPr>
        <p:spPr>
          <a:xfrm>
            <a:off x="6291072" y="4599432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0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Control: Crisis comms plan + monitoring</a:t>
            </a:r>
            <a:endParaRPr lang="en-US" sz="1000" dirty="0"/>
          </a:p>
        </p:txBody>
      </p:sp>
      <p:sp>
        <p:nvSpPr>
          <p:cNvPr id="44" name="Shape 41"/>
          <p:cNvSpPr/>
          <p:nvPr/>
        </p:nvSpPr>
        <p:spPr>
          <a:xfrm>
            <a:off x="10058400" y="4416552"/>
            <a:ext cx="914400" cy="310896"/>
          </a:xfrm>
          <a:prstGeom prst="rect">
            <a:avLst/>
          </a:prstGeom>
          <a:solidFill>
            <a:srgbClr val="C65911"/>
          </a:solidFill>
          <a:ln w="12700">
            <a:solidFill>
              <a:srgbClr val="C65911"/>
            </a:solidFill>
            <a:prstDash val="solid"/>
          </a:ln>
        </p:spPr>
      </p:sp>
      <p:sp>
        <p:nvSpPr>
          <p:cNvPr id="45" name="Text 42"/>
          <p:cNvSpPr/>
          <p:nvPr/>
        </p:nvSpPr>
        <p:spPr>
          <a:xfrm>
            <a:off x="10058400" y="4416552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1000" dirty="0"/>
          </a:p>
        </p:txBody>
      </p:sp>
      <p:sp>
        <p:nvSpPr>
          <p:cNvPr id="46" name="Shape 43"/>
          <p:cNvSpPr/>
          <p:nvPr/>
        </p:nvSpPr>
        <p:spPr>
          <a:xfrm>
            <a:off x="320040" y="4617720"/>
            <a:ext cx="5029200" cy="685800"/>
          </a:xfrm>
          <a:prstGeom prst="rect">
            <a:avLst/>
          </a:prstGeom>
          <a:solidFill>
            <a:srgbClr val="E2EFDA"/>
          </a:solidFill>
          <a:ln w="12700">
            <a:solidFill>
              <a:srgbClr val="375623"/>
            </a:solidFill>
            <a:prstDash val="solid"/>
          </a:ln>
        </p:spPr>
      </p:sp>
      <p:sp>
        <p:nvSpPr>
          <p:cNvPr id="47" name="Text 44"/>
          <p:cNvSpPr/>
          <p:nvPr/>
        </p:nvSpPr>
        <p:spPr>
          <a:xfrm>
            <a:off x="457200" y="4617720"/>
            <a:ext cx="4754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75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Controls reduce HIGH/CRITICAL risks 7 → 3 (57% reduction). Zero CRITICAL residual risks.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58368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65836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0"/>
            <a:ext cx="1182319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| Bias &amp; Fairness — Pre-Deployment Assessment Results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65836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DD7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AInnovate Inc.  |  AI Governance Framework  |  CONFIDENTIAL  |  February 2026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9875520" y="658368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DD7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AIN-GOV  v1.0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320040" y="749808"/>
            <a:ext cx="115214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0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Bias assessment BAR-2026-001 completed 20 January 2026. 300 contrastive prompt pairs across 8 demographic dimensions.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20040" y="1170432"/>
            <a:ext cx="1828800" cy="1188720"/>
          </a:xfrm>
          <a:prstGeom prst="rect">
            <a:avLst/>
          </a:prstGeom>
          <a:solidFill>
            <a:srgbClr val="375623"/>
          </a:solidFill>
          <a:ln w="12700">
            <a:solidFill>
              <a:srgbClr val="375623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20040" y="1243584"/>
            <a:ext cx="1828800" cy="68945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3800" dirty="0"/>
          </a:p>
        </p:txBody>
      </p:sp>
      <p:sp>
        <p:nvSpPr>
          <p:cNvPr id="11" name="Text 9"/>
          <p:cNvSpPr/>
          <p:nvPr/>
        </p:nvSpPr>
        <p:spPr>
          <a:xfrm>
            <a:off x="320040" y="1907438"/>
            <a:ext cx="1828800" cy="4517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Dimensions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286000" y="1170432"/>
            <a:ext cx="1828800" cy="1188720"/>
          </a:xfrm>
          <a:prstGeom prst="rect">
            <a:avLst/>
          </a:prstGeom>
          <a:solidFill>
            <a:srgbClr val="7F4F00"/>
          </a:solidFill>
          <a:ln w="12700">
            <a:solidFill>
              <a:srgbClr val="7F4F00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286000" y="1243584"/>
            <a:ext cx="1828800" cy="68945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3800" dirty="0"/>
          </a:p>
        </p:txBody>
      </p:sp>
      <p:sp>
        <p:nvSpPr>
          <p:cNvPr id="14" name="Text 12"/>
          <p:cNvSpPr/>
          <p:nvPr/>
        </p:nvSpPr>
        <p:spPr>
          <a:xfrm>
            <a:off x="2286000" y="1907438"/>
            <a:ext cx="1828800" cy="4517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Dimensions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251960" y="1170432"/>
            <a:ext cx="1828800" cy="1188720"/>
          </a:xfrm>
          <a:prstGeom prst="rect">
            <a:avLst/>
          </a:prstGeom>
          <a:solidFill>
            <a:srgbClr val="607080"/>
          </a:solidFill>
          <a:ln w="12700">
            <a:solidFill>
              <a:srgbClr val="607080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251960" y="1243584"/>
            <a:ext cx="1828800" cy="68945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3800" dirty="0"/>
          </a:p>
        </p:txBody>
      </p:sp>
      <p:sp>
        <p:nvSpPr>
          <p:cNvPr id="17" name="Text 15"/>
          <p:cNvSpPr/>
          <p:nvPr/>
        </p:nvSpPr>
        <p:spPr>
          <a:xfrm>
            <a:off x="4251960" y="1907438"/>
            <a:ext cx="1828800" cy="4517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Dimensions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217920" y="1170432"/>
            <a:ext cx="1828800" cy="118872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217920" y="1243584"/>
            <a:ext cx="1828800" cy="68945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0.76</a:t>
            </a:r>
            <a:endParaRPr lang="en-US" sz="3800" dirty="0"/>
          </a:p>
        </p:txBody>
      </p:sp>
      <p:sp>
        <p:nvSpPr>
          <p:cNvPr id="20" name="Text 18"/>
          <p:cNvSpPr/>
          <p:nvPr/>
        </p:nvSpPr>
        <p:spPr>
          <a:xfrm>
            <a:off x="6217920" y="1907438"/>
            <a:ext cx="1828800" cy="4517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Annotation κ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(req. ≥0.70)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20040" y="251460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BY DIMENSION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320040" y="2907792"/>
            <a:ext cx="1901952" cy="621792"/>
          </a:xfrm>
          <a:prstGeom prst="rect">
            <a:avLst/>
          </a:prstGeom>
          <a:solidFill>
            <a:srgbClr val="E2EFDA"/>
          </a:solidFill>
          <a:ln w="12700">
            <a:solidFill>
              <a:srgbClr val="37562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93192" y="2907792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Gender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93192" y="3273552"/>
            <a:ext cx="822960" cy="219456"/>
          </a:xfrm>
          <a:prstGeom prst="rect">
            <a:avLst/>
          </a:prstGeom>
          <a:solidFill>
            <a:srgbClr val="375623"/>
          </a:solidFill>
          <a:ln w="12700">
            <a:solidFill>
              <a:srgbClr val="37562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93192" y="3273552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2313432" y="2907792"/>
            <a:ext cx="1901952" cy="621792"/>
          </a:xfrm>
          <a:prstGeom prst="rect">
            <a:avLst/>
          </a:prstGeom>
          <a:solidFill>
            <a:srgbClr val="FFF2CC"/>
          </a:solidFill>
          <a:ln w="12700">
            <a:solidFill>
              <a:srgbClr val="7F4F0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386584" y="2907792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Race / Ethnicity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386584" y="3273552"/>
            <a:ext cx="822960" cy="219456"/>
          </a:xfrm>
          <a:prstGeom prst="rect">
            <a:avLst/>
          </a:prstGeom>
          <a:solidFill>
            <a:srgbClr val="7F4F00"/>
          </a:solidFill>
          <a:ln w="12700">
            <a:solidFill>
              <a:srgbClr val="7F4F0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386584" y="3273552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306824" y="2907792"/>
            <a:ext cx="1901952" cy="621792"/>
          </a:xfrm>
          <a:prstGeom prst="rect">
            <a:avLst/>
          </a:prstGeom>
          <a:solidFill>
            <a:srgbClr val="E2EFDA"/>
          </a:solidFill>
          <a:ln w="12700">
            <a:solidFill>
              <a:srgbClr val="37562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379976" y="2907792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379976" y="3273552"/>
            <a:ext cx="822960" cy="219456"/>
          </a:xfrm>
          <a:prstGeom prst="rect">
            <a:avLst/>
          </a:prstGeom>
          <a:solidFill>
            <a:srgbClr val="375623"/>
          </a:solidFill>
          <a:ln w="12700">
            <a:solidFill>
              <a:srgbClr val="375623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379976" y="3273552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6300216" y="2907792"/>
            <a:ext cx="1901952" cy="621792"/>
          </a:xfrm>
          <a:prstGeom prst="rect">
            <a:avLst/>
          </a:prstGeom>
          <a:solidFill>
            <a:srgbClr val="FFF2CC"/>
          </a:solidFill>
          <a:ln w="12700">
            <a:solidFill>
              <a:srgbClr val="7F4F0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373368" y="2907792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Religion / Belief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6373368" y="3273552"/>
            <a:ext cx="822960" cy="219456"/>
          </a:xfrm>
          <a:prstGeom prst="rect">
            <a:avLst/>
          </a:prstGeom>
          <a:solidFill>
            <a:srgbClr val="7F4F00"/>
          </a:solidFill>
          <a:ln w="12700">
            <a:solidFill>
              <a:srgbClr val="7F4F0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373368" y="3273552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320040" y="3621024"/>
            <a:ext cx="1901952" cy="621792"/>
          </a:xfrm>
          <a:prstGeom prst="rect">
            <a:avLst/>
          </a:prstGeom>
          <a:solidFill>
            <a:srgbClr val="FFF2CC"/>
          </a:solidFill>
          <a:ln w="12700">
            <a:solidFill>
              <a:srgbClr val="7F4F0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93192" y="3621024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Sexual Orientation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393192" y="3986784"/>
            <a:ext cx="822960" cy="219456"/>
          </a:xfrm>
          <a:prstGeom prst="rect">
            <a:avLst/>
          </a:prstGeom>
          <a:solidFill>
            <a:srgbClr val="7F4F00"/>
          </a:solidFill>
          <a:ln w="12700">
            <a:solidFill>
              <a:srgbClr val="7F4F0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93192" y="3986784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2313432" y="3621024"/>
            <a:ext cx="1901952" cy="621792"/>
          </a:xfrm>
          <a:prstGeom prst="rect">
            <a:avLst/>
          </a:prstGeom>
          <a:solidFill>
            <a:srgbClr val="E2EFDA"/>
          </a:solidFill>
          <a:ln w="12700">
            <a:solidFill>
              <a:srgbClr val="375623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2386584" y="3621024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Disability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2386584" y="3986784"/>
            <a:ext cx="822960" cy="219456"/>
          </a:xfrm>
          <a:prstGeom prst="rect">
            <a:avLst/>
          </a:prstGeom>
          <a:solidFill>
            <a:srgbClr val="375623"/>
          </a:solidFill>
          <a:ln w="12700">
            <a:solidFill>
              <a:srgbClr val="375623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2386584" y="3986784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4306824" y="3621024"/>
            <a:ext cx="1901952" cy="621792"/>
          </a:xfrm>
          <a:prstGeom prst="rect">
            <a:avLst/>
          </a:prstGeom>
          <a:solidFill>
            <a:srgbClr val="E2EFDA"/>
          </a:solidFill>
          <a:ln w="12700">
            <a:solidFill>
              <a:srgbClr val="375623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379976" y="3621024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Nationality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4379976" y="3986784"/>
            <a:ext cx="822960" cy="219456"/>
          </a:xfrm>
          <a:prstGeom prst="rect">
            <a:avLst/>
          </a:prstGeom>
          <a:solidFill>
            <a:srgbClr val="375623"/>
          </a:solidFill>
          <a:ln w="12700">
            <a:solidFill>
              <a:srgbClr val="375623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379976" y="3986784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6300216" y="3621024"/>
            <a:ext cx="1901952" cy="621792"/>
          </a:xfrm>
          <a:prstGeom prst="rect">
            <a:avLst/>
          </a:prstGeom>
          <a:solidFill>
            <a:srgbClr val="E2EFDA"/>
          </a:solidFill>
          <a:ln w="12700">
            <a:solidFill>
              <a:srgbClr val="375623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373368" y="3621024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Socioeconomic</a:t>
            </a:r>
            <a:endParaRPr lang="en-US" sz="1100" dirty="0"/>
          </a:p>
        </p:txBody>
      </p:sp>
      <p:sp>
        <p:nvSpPr>
          <p:cNvPr id="52" name="Shape 50"/>
          <p:cNvSpPr/>
          <p:nvPr/>
        </p:nvSpPr>
        <p:spPr>
          <a:xfrm>
            <a:off x="6373368" y="3986784"/>
            <a:ext cx="822960" cy="219456"/>
          </a:xfrm>
          <a:prstGeom prst="rect">
            <a:avLst/>
          </a:prstGeom>
          <a:solidFill>
            <a:srgbClr val="375623"/>
          </a:solidFill>
          <a:ln w="12700">
            <a:solidFill>
              <a:srgbClr val="375623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373368" y="3986784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</a:t>
            </a:r>
            <a:endParaRPr lang="en-US" sz="1000" dirty="0"/>
          </a:p>
        </p:txBody>
      </p:sp>
      <p:sp>
        <p:nvSpPr>
          <p:cNvPr id="54" name="Text 52"/>
          <p:cNvSpPr/>
          <p:nvPr/>
        </p:nvSpPr>
        <p:spPr>
          <a:xfrm>
            <a:off x="8321040" y="251460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</a:t>
            </a:r>
            <a:endParaRPr lang="en-US" sz="1300" dirty="0"/>
          </a:p>
        </p:txBody>
      </p:sp>
      <p:sp>
        <p:nvSpPr>
          <p:cNvPr id="55" name="Shape 53"/>
          <p:cNvSpPr/>
          <p:nvPr/>
        </p:nvSpPr>
        <p:spPr>
          <a:xfrm>
            <a:off x="8321040" y="3026664"/>
            <a:ext cx="146304" cy="146304"/>
          </a:xfrm>
          <a:prstGeom prst="ellipse">
            <a:avLst/>
          </a:prstGeom>
          <a:solidFill>
            <a:srgbClr val="375623"/>
          </a:solidFill>
          <a:ln w="12700">
            <a:solidFill>
              <a:srgbClr val="375623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8503920" y="2944368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OVERALL: PASS — approved for production</a:t>
            </a:r>
            <a:endParaRPr lang="en-US" sz="1200" dirty="0"/>
          </a:p>
        </p:txBody>
      </p:sp>
      <p:sp>
        <p:nvSpPr>
          <p:cNvPr id="57" name="Shape 55"/>
          <p:cNvSpPr/>
          <p:nvPr/>
        </p:nvSpPr>
        <p:spPr>
          <a:xfrm>
            <a:off x="8321040" y="3575304"/>
            <a:ext cx="146304" cy="146304"/>
          </a:xfrm>
          <a:prstGeom prst="ellipse">
            <a:avLst/>
          </a:prstGeom>
          <a:solidFill>
            <a:srgbClr val="7F4F00"/>
          </a:solidFill>
          <a:ln w="12700">
            <a:solidFill>
              <a:srgbClr val="7F4F00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8503920" y="3493008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Gender SAS (0.041) borderline: monitor Aug 2026</a:t>
            </a:r>
            <a:endParaRPr lang="en-US" sz="1200" dirty="0"/>
          </a:p>
        </p:txBody>
      </p:sp>
      <p:sp>
        <p:nvSpPr>
          <p:cNvPr id="59" name="Shape 57"/>
          <p:cNvSpPr/>
          <p:nvPr/>
        </p:nvSpPr>
        <p:spPr>
          <a:xfrm>
            <a:off x="8321040" y="4123944"/>
            <a:ext cx="146304" cy="146304"/>
          </a:xfrm>
          <a:prstGeom prst="ellipse">
            <a:avLst/>
          </a:prstGeom>
          <a:solidFill>
            <a:srgbClr val="7F4F00"/>
          </a:solidFill>
          <a:ln w="12700">
            <a:solidFill>
              <a:srgbClr val="7F4F00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8503920" y="4041648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Religion refusal disparity: ACTION within 60 days</a:t>
            </a:r>
            <a:endParaRPr lang="en-US" sz="1200" dirty="0"/>
          </a:p>
        </p:txBody>
      </p:sp>
      <p:sp>
        <p:nvSpPr>
          <p:cNvPr id="61" name="Shape 59"/>
          <p:cNvSpPr/>
          <p:nvPr/>
        </p:nvSpPr>
        <p:spPr>
          <a:xfrm>
            <a:off x="8321040" y="4672584"/>
            <a:ext cx="146304" cy="146304"/>
          </a:xfrm>
          <a:prstGeom prst="ellipse">
            <a:avLst/>
          </a:prstGeom>
          <a:solidFill>
            <a:srgbClr val="375623"/>
          </a:solidFill>
          <a:ln w="12700">
            <a:solidFill>
              <a:srgbClr val="375623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8503920" y="4590288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FAIL conditions across all 8 dimensions</a:t>
            </a:r>
            <a:endParaRPr lang="en-US" sz="1200" dirty="0"/>
          </a:p>
        </p:txBody>
      </p:sp>
      <p:sp>
        <p:nvSpPr>
          <p:cNvPr id="63" name="Shape 61"/>
          <p:cNvSpPr/>
          <p:nvPr/>
        </p:nvSpPr>
        <p:spPr>
          <a:xfrm>
            <a:off x="8321040" y="5221224"/>
            <a:ext cx="146304" cy="146304"/>
          </a:xfrm>
          <a:prstGeom prst="ellipse">
            <a:avLst/>
          </a:prstGeom>
          <a:solidFill>
            <a:srgbClr val="375623"/>
          </a:solidFill>
          <a:ln w="12700">
            <a:solidFill>
              <a:srgbClr val="375623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8503920" y="5138928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annotation κ = 0.76 ✓ (req. ≥0.70)</a:t>
            </a:r>
            <a:endParaRPr lang="en-US" sz="1200" dirty="0"/>
          </a:p>
        </p:txBody>
      </p:sp>
      <p:sp>
        <p:nvSpPr>
          <p:cNvPr id="65" name="Shape 63"/>
          <p:cNvSpPr/>
          <p:nvPr/>
        </p:nvSpPr>
        <p:spPr>
          <a:xfrm>
            <a:off x="8321040" y="5596128"/>
            <a:ext cx="3657600" cy="457200"/>
          </a:xfrm>
          <a:prstGeom prst="rect">
            <a:avLst/>
          </a:prstGeom>
          <a:solidFill>
            <a:srgbClr val="E2EFDA"/>
          </a:solidFill>
          <a:ln w="12700">
            <a:solidFill>
              <a:srgbClr val="375623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8412480" y="5596128"/>
            <a:ext cx="3520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75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APPROVED for production. Next assessment: August 2026.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58368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65836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0"/>
            <a:ext cx="1182319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| AI Incident Response — Framework &amp; Timelines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65836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DD7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AInnovate Inc.  |  AI Governance Framework  |  CONFIDENTIAL  |  February 2026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9875520" y="658368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DD7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AIN-GOV  v1.0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320040" y="749808"/>
            <a:ext cx="115214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0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6-phase response process covering 4 incident types. Aligned to NIST AI RMF MG-3/4 and GDPR Article 33.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20040" y="1170432"/>
            <a:ext cx="1828800" cy="621792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" y="1170432"/>
            <a:ext cx="1828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DETECT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2148840" y="1417320"/>
            <a:ext cx="146304" cy="128016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295144" y="1170432"/>
            <a:ext cx="1828800" cy="621792"/>
          </a:xfrm>
          <a:prstGeom prst="rect">
            <a:avLst/>
          </a:prstGeom>
          <a:solidFill>
            <a:srgbClr val="C65911"/>
          </a:solidFill>
          <a:ln w="12700">
            <a:solidFill>
              <a:srgbClr val="C6591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295144" y="1170432"/>
            <a:ext cx="1828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CONTAIN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123944" y="1417320"/>
            <a:ext cx="146304" cy="128016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270248" y="1170432"/>
            <a:ext cx="1828800" cy="621792"/>
          </a:xfrm>
          <a:prstGeom prst="rect">
            <a:avLst/>
          </a:prstGeom>
          <a:solidFill>
            <a:srgbClr val="7F4F00"/>
          </a:solidFill>
          <a:ln w="12700">
            <a:solidFill>
              <a:srgbClr val="7F4F0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270248" y="1170432"/>
            <a:ext cx="1828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 INVESTIGATE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099048" y="1417320"/>
            <a:ext cx="146304" cy="128016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245352" y="1170432"/>
            <a:ext cx="1828800" cy="621792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245352" y="1170432"/>
            <a:ext cx="1828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 COMMUNICATE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8074152" y="1417320"/>
            <a:ext cx="146304" cy="128016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220456" y="1170432"/>
            <a:ext cx="1828800" cy="621792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220456" y="1170432"/>
            <a:ext cx="1828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 REMEDIATE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10049256" y="1417320"/>
            <a:ext cx="146304" cy="128016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0195560" y="1170432"/>
            <a:ext cx="1828800" cy="621792"/>
          </a:xfrm>
          <a:prstGeom prst="rect">
            <a:avLst/>
          </a:prstGeom>
          <a:solidFill>
            <a:srgbClr val="375623"/>
          </a:solidFill>
          <a:ln w="12700">
            <a:solidFill>
              <a:srgbClr val="37562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0195560" y="1170432"/>
            <a:ext cx="1828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 REVIEW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320040" y="19659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SEVERITY TIERS &amp; RESPONSE SLAS</a:t>
            </a:r>
            <a:endParaRPr lang="en-US" sz="13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2359152"/>
          <a:ext cx="11567160" cy="2468880"/>
        </p:xfrm>
        <a:graphic>
          <a:graphicData uri="http://schemas.openxmlformats.org/drawingml/2006/table">
            <a:tbl>
              <a:tblPr/>
              <a:tblGrid>
                <a:gridCol w="1645920"/>
                <a:gridCol w="1097280"/>
                <a:gridCol w="1097280"/>
                <a:gridCol w="1234440"/>
                <a:gridCol w="1097280"/>
                <a:gridCol w="5394960"/>
              </a:tblGrid>
              <a:tr h="4937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Severity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IC Engaged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Contain By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AIGC Notified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RCA Due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Typical Examples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P1  CRITICAL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040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hr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040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hrs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040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hr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040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48 hrs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040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PII breach, hate speech / CSAM output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P2  HIGH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59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040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hrs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040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 hrs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040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 hrs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040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 days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040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Systematic bias, partial prompt injection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P3  MEDIUM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F4F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040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 hrs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040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 hrs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040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 hrs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040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 days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040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 drift &gt;10%, isolated harmful output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P4  LOW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562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040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48 hrs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040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72 hrs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040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N/A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040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N/A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040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Quality complaint, near-miss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8" name="Shape 25"/>
          <p:cNvSpPr/>
          <p:nvPr/>
        </p:nvSpPr>
        <p:spPr>
          <a:xfrm>
            <a:off x="320040" y="5001768"/>
            <a:ext cx="5577840" cy="667512"/>
          </a:xfrm>
          <a:prstGeom prst="rect">
            <a:avLst/>
          </a:prstGeom>
          <a:solidFill>
            <a:srgbClr val="FFD7D7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438912" y="5001768"/>
            <a:ext cx="5394960" cy="6675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⛑  GDPR Art. 33: ICO notification within 72 hours of first awareness of a personal data breach.</a:t>
            </a:r>
            <a:endParaRPr lang="en-US" sz="1200" dirty="0"/>
          </a:p>
        </p:txBody>
      </p:sp>
      <p:sp>
        <p:nvSpPr>
          <p:cNvPr id="30" name="Shape 27"/>
          <p:cNvSpPr/>
          <p:nvPr/>
        </p:nvSpPr>
        <p:spPr>
          <a:xfrm>
            <a:off x="6035040" y="5001768"/>
            <a:ext cx="5852160" cy="667512"/>
          </a:xfrm>
          <a:prstGeom prst="rect">
            <a:avLst/>
          </a:prstGeom>
          <a:solidFill>
            <a:srgbClr val="FFF2CC"/>
          </a:solidFill>
          <a:ln w="12700">
            <a:solidFill>
              <a:srgbClr val="7F4F00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6144768" y="5001768"/>
            <a:ext cx="5669280" cy="6675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F4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⛑  EU AI Act Art. 73: Serious incident notification to national authority 'without undue delay'. CLO tracks per incident.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58368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65836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0"/>
            <a:ext cx="1182319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| Regulatory Landscape &amp; Compliance Position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65836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DD7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AInnovate Inc.  |  AI Governance Framework  |  CONFIDENTIAL  |  February 2026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9875520" y="658368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DD7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AIN-GOV  v1.0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20040" y="822960"/>
            <a:ext cx="2788920" cy="86868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850392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 AI Act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11480" y="1261872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DD7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Regulation (EU) 2024/1689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11480" y="1755648"/>
            <a:ext cx="2606040" cy="292608"/>
          </a:xfrm>
          <a:prstGeom prst="rect">
            <a:avLst/>
          </a:prstGeom>
          <a:solidFill>
            <a:srgbClr val="FFF2CC"/>
          </a:solidFill>
          <a:ln w="12700">
            <a:solidFill>
              <a:srgbClr val="7F4F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11480" y="1755648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7F4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PROGRESS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11480" y="210312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GenStudio: LIMITED RISK (Art. 52)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1480" y="2551176"/>
            <a:ext cx="109728" cy="109728"/>
          </a:xfrm>
          <a:prstGeom prst="ellipse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66928" y="2478024"/>
            <a:ext cx="24505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Transparency disclosures: IMPLEMENTED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11480" y="2935224"/>
            <a:ext cx="109728" cy="109728"/>
          </a:xfrm>
          <a:prstGeom prst="ellipse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66928" y="2862072"/>
            <a:ext cx="24505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oversight: IMPLEMENTED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11480" y="3319272"/>
            <a:ext cx="109728" cy="109728"/>
          </a:xfrm>
          <a:prstGeom prst="ellipse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66928" y="3246120"/>
            <a:ext cx="24505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documentation: IN PROGRESS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11480" y="3703320"/>
            <a:ext cx="109728" cy="109728"/>
          </a:xfrm>
          <a:prstGeom prst="ellipse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66928" y="3630168"/>
            <a:ext cx="24505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 database registration: UNDER REVIEW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11480" y="4087368"/>
            <a:ext cx="109728" cy="109728"/>
          </a:xfrm>
          <a:prstGeom prst="ellipse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66928" y="4014216"/>
            <a:ext cx="24505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Conformity assessment: Q2 2026 target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320040" y="4526280"/>
            <a:ext cx="2788920" cy="548640"/>
          </a:xfrm>
          <a:prstGeom prst="rect">
            <a:avLst/>
          </a:prstGeom>
          <a:solidFill>
            <a:srgbClr val="DEEAF1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93192" y="452628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0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Sanction: Up to €15M or 3% global turnover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264408" y="822960"/>
            <a:ext cx="2788920" cy="86868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355848" y="850392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GDPR / UK GDPR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3355848" y="1261872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DD7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Protection Legislation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3355848" y="1755648"/>
            <a:ext cx="2606040" cy="292608"/>
          </a:xfrm>
          <a:prstGeom prst="rect">
            <a:avLst/>
          </a:prstGeom>
          <a:solidFill>
            <a:srgbClr val="E2EFDA"/>
          </a:solidFill>
          <a:ln w="12700">
            <a:solidFill>
              <a:srgbClr val="375623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355848" y="1755648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75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COMPLIANT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3355848" y="210312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AInnovate: Data Controller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3355848" y="2551176"/>
            <a:ext cx="109728" cy="109728"/>
          </a:xfrm>
          <a:prstGeom prst="ellipse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511296" y="2478024"/>
            <a:ext cx="24505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DPIAs for AI processing: ✓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3355848" y="2935224"/>
            <a:ext cx="109728" cy="109728"/>
          </a:xfrm>
          <a:prstGeom prst="ellipse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511296" y="2862072"/>
            <a:ext cx="24505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minimisation pipeline: ✓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3355848" y="3319272"/>
            <a:ext cx="109728" cy="109728"/>
          </a:xfrm>
          <a:prstGeom prst="ellipse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511296" y="3246120"/>
            <a:ext cx="24505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30-day log retention enforced: ✓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3355848" y="3703320"/>
            <a:ext cx="109728" cy="109728"/>
          </a:xfrm>
          <a:prstGeom prst="ellipse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511296" y="3630168"/>
            <a:ext cx="24505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Lawful basis documented: ✓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3355848" y="4087368"/>
            <a:ext cx="109728" cy="109728"/>
          </a:xfrm>
          <a:prstGeom prst="ellipse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511296" y="4014216"/>
            <a:ext cx="24505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subject rights process: ✓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3264408" y="4526280"/>
            <a:ext cx="2788920" cy="548640"/>
          </a:xfrm>
          <a:prstGeom prst="rect">
            <a:avLst/>
          </a:prstGeom>
          <a:solidFill>
            <a:srgbClr val="DEEAF1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337560" y="452628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0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Sanction: Up to €20M or 4% global turnover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6208776" y="822960"/>
            <a:ext cx="2788920" cy="868680"/>
          </a:xfrm>
          <a:prstGeom prst="rect">
            <a:avLst/>
          </a:prstGeom>
          <a:solidFill>
            <a:srgbClr val="4472C4"/>
          </a:solidFill>
          <a:ln w="12700">
            <a:solidFill>
              <a:srgbClr val="4472C4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300216" y="850392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ISO/IEC 42001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6300216" y="1261872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DD7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Management System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6300216" y="1755648"/>
            <a:ext cx="2606040" cy="292608"/>
          </a:xfrm>
          <a:prstGeom prst="rect">
            <a:avLst/>
          </a:prstGeom>
          <a:solidFill>
            <a:srgbClr val="FFF2CC"/>
          </a:solidFill>
          <a:ln w="12700">
            <a:solidFill>
              <a:srgbClr val="7F4F0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300216" y="1755648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7F4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PROGRESS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6300216" y="210312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Certification Q4 2026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6300216" y="2551176"/>
            <a:ext cx="109728" cy="109728"/>
          </a:xfrm>
          <a:prstGeom prst="ellipse">
            <a:avLst/>
          </a:prstGeom>
          <a:solidFill>
            <a:srgbClr val="4472C4"/>
          </a:solidFill>
          <a:ln w="12700">
            <a:solidFill>
              <a:srgbClr val="4472C4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455664" y="2478024"/>
            <a:ext cx="24505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Governance Committee: ✓</a:t>
            </a:r>
            <a:endParaRPr lang="en-US" sz="1050" dirty="0"/>
          </a:p>
        </p:txBody>
      </p:sp>
      <p:sp>
        <p:nvSpPr>
          <p:cNvPr id="52" name="Shape 50"/>
          <p:cNvSpPr/>
          <p:nvPr/>
        </p:nvSpPr>
        <p:spPr>
          <a:xfrm>
            <a:off x="6300216" y="2935224"/>
            <a:ext cx="109728" cy="109728"/>
          </a:xfrm>
          <a:prstGeom prst="ellipse">
            <a:avLst/>
          </a:prstGeom>
          <a:solidFill>
            <a:srgbClr val="4472C4"/>
          </a:solidFill>
          <a:ln w="12700">
            <a:solidFill>
              <a:srgbClr val="4472C4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455664" y="2862072"/>
            <a:ext cx="24505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Model Registry: ✓</a:t>
            </a:r>
            <a:endParaRPr lang="en-US" sz="1050" dirty="0"/>
          </a:p>
        </p:txBody>
      </p:sp>
      <p:sp>
        <p:nvSpPr>
          <p:cNvPr id="54" name="Shape 52"/>
          <p:cNvSpPr/>
          <p:nvPr/>
        </p:nvSpPr>
        <p:spPr>
          <a:xfrm>
            <a:off x="6300216" y="3319272"/>
            <a:ext cx="109728" cy="109728"/>
          </a:xfrm>
          <a:prstGeom prst="ellipse">
            <a:avLst/>
          </a:prstGeom>
          <a:solidFill>
            <a:srgbClr val="4472C4"/>
          </a:solidFill>
          <a:ln w="12700">
            <a:solidFill>
              <a:srgbClr val="4472C4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6455664" y="3246120"/>
            <a:ext cx="24505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assessment process: ✓</a:t>
            </a:r>
            <a:endParaRPr lang="en-US" sz="1050" dirty="0"/>
          </a:p>
        </p:txBody>
      </p:sp>
      <p:sp>
        <p:nvSpPr>
          <p:cNvPr id="56" name="Shape 54"/>
          <p:cNvSpPr/>
          <p:nvPr/>
        </p:nvSpPr>
        <p:spPr>
          <a:xfrm>
            <a:off x="6300216" y="3703320"/>
            <a:ext cx="109728" cy="109728"/>
          </a:xfrm>
          <a:prstGeom prst="ellipse">
            <a:avLst/>
          </a:prstGeom>
          <a:solidFill>
            <a:srgbClr val="4472C4"/>
          </a:solidFill>
          <a:ln w="12700">
            <a:solidFill>
              <a:srgbClr val="4472C4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6455664" y="3630168"/>
            <a:ext cx="24505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Bias methodology: ✓</a:t>
            </a:r>
            <a:endParaRPr lang="en-US" sz="1050" dirty="0"/>
          </a:p>
        </p:txBody>
      </p:sp>
      <p:sp>
        <p:nvSpPr>
          <p:cNvPr id="58" name="Shape 56"/>
          <p:cNvSpPr/>
          <p:nvPr/>
        </p:nvSpPr>
        <p:spPr>
          <a:xfrm>
            <a:off x="6300216" y="4087368"/>
            <a:ext cx="109728" cy="109728"/>
          </a:xfrm>
          <a:prstGeom prst="ellipse">
            <a:avLst/>
          </a:prstGeom>
          <a:solidFill>
            <a:srgbClr val="4472C4"/>
          </a:solidFill>
          <a:ln w="12700">
            <a:solidFill>
              <a:srgbClr val="4472C4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6455664" y="4014216"/>
            <a:ext cx="24505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 analysis: IN PROGRESS</a:t>
            </a:r>
            <a:endParaRPr lang="en-US" sz="1050" dirty="0"/>
          </a:p>
        </p:txBody>
      </p:sp>
      <p:sp>
        <p:nvSpPr>
          <p:cNvPr id="60" name="Shape 58"/>
          <p:cNvSpPr/>
          <p:nvPr/>
        </p:nvSpPr>
        <p:spPr>
          <a:xfrm>
            <a:off x="6208776" y="4526280"/>
            <a:ext cx="2788920" cy="548640"/>
          </a:xfrm>
          <a:prstGeom prst="rect">
            <a:avLst/>
          </a:prstGeom>
          <a:solidFill>
            <a:srgbClr val="DEEAF1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6281928" y="452628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0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Sanction: Voluntary — market differentiator</a:t>
            </a:r>
            <a:endParaRPr lang="en-US" sz="1000" dirty="0"/>
          </a:p>
        </p:txBody>
      </p:sp>
      <p:sp>
        <p:nvSpPr>
          <p:cNvPr id="62" name="Shape 60"/>
          <p:cNvSpPr/>
          <p:nvPr/>
        </p:nvSpPr>
        <p:spPr>
          <a:xfrm>
            <a:off x="9153144" y="822960"/>
            <a:ext cx="2788920" cy="868680"/>
          </a:xfrm>
          <a:prstGeom prst="rect">
            <a:avLst/>
          </a:prstGeom>
          <a:solidFill>
            <a:srgbClr val="607080"/>
          </a:solidFill>
          <a:ln w="12700">
            <a:solidFill>
              <a:srgbClr val="607080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9244584" y="850392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NIST AI RMF 1.0</a:t>
            </a:r>
            <a:endParaRPr lang="en-US" sz="1600" dirty="0"/>
          </a:p>
        </p:txBody>
      </p:sp>
      <p:sp>
        <p:nvSpPr>
          <p:cNvPr id="64" name="Text 62"/>
          <p:cNvSpPr/>
          <p:nvPr/>
        </p:nvSpPr>
        <p:spPr>
          <a:xfrm>
            <a:off x="9244584" y="1261872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DD7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 NIST Framework</a:t>
            </a:r>
            <a:endParaRPr lang="en-US" sz="1000" dirty="0"/>
          </a:p>
        </p:txBody>
      </p:sp>
      <p:sp>
        <p:nvSpPr>
          <p:cNvPr id="65" name="Shape 63"/>
          <p:cNvSpPr/>
          <p:nvPr/>
        </p:nvSpPr>
        <p:spPr>
          <a:xfrm>
            <a:off x="9244584" y="1755648"/>
            <a:ext cx="2606040" cy="292608"/>
          </a:xfrm>
          <a:prstGeom prst="rect">
            <a:avLst/>
          </a:prstGeom>
          <a:solidFill>
            <a:srgbClr val="E2EFDA"/>
          </a:solidFill>
          <a:ln w="12700">
            <a:solidFill>
              <a:srgbClr val="375623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9244584" y="1755648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75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ALIGNED</a:t>
            </a:r>
            <a:endParaRPr lang="en-US" sz="1100" dirty="0"/>
          </a:p>
        </p:txBody>
      </p:sp>
      <p:sp>
        <p:nvSpPr>
          <p:cNvPr id="67" name="Text 65"/>
          <p:cNvSpPr/>
          <p:nvPr/>
        </p:nvSpPr>
        <p:spPr>
          <a:xfrm>
            <a:off x="9244584" y="210312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4 Core Functions: Implemented</a:t>
            </a:r>
            <a:endParaRPr lang="en-US" sz="1000" dirty="0"/>
          </a:p>
        </p:txBody>
      </p:sp>
      <p:sp>
        <p:nvSpPr>
          <p:cNvPr id="68" name="Shape 66"/>
          <p:cNvSpPr/>
          <p:nvPr/>
        </p:nvSpPr>
        <p:spPr>
          <a:xfrm>
            <a:off x="9244584" y="2551176"/>
            <a:ext cx="109728" cy="109728"/>
          </a:xfrm>
          <a:prstGeom prst="ellipse">
            <a:avLst/>
          </a:prstGeom>
          <a:solidFill>
            <a:srgbClr val="607080"/>
          </a:solidFill>
          <a:ln w="12700">
            <a:solidFill>
              <a:srgbClr val="607080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9400032" y="2478024"/>
            <a:ext cx="24505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 — AI Gov Policy: ✓</a:t>
            </a:r>
            <a:endParaRPr lang="en-US" sz="1050" dirty="0"/>
          </a:p>
        </p:txBody>
      </p:sp>
      <p:sp>
        <p:nvSpPr>
          <p:cNvPr id="70" name="Shape 68"/>
          <p:cNvSpPr/>
          <p:nvPr/>
        </p:nvSpPr>
        <p:spPr>
          <a:xfrm>
            <a:off x="9244584" y="2935224"/>
            <a:ext cx="109728" cy="109728"/>
          </a:xfrm>
          <a:prstGeom prst="ellipse">
            <a:avLst/>
          </a:prstGeom>
          <a:solidFill>
            <a:srgbClr val="607080"/>
          </a:solidFill>
          <a:ln w="12700">
            <a:solidFill>
              <a:srgbClr val="607080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9400032" y="2862072"/>
            <a:ext cx="24505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 — Risk Assessment: ✓</a:t>
            </a:r>
            <a:endParaRPr lang="en-US" sz="1050" dirty="0"/>
          </a:p>
        </p:txBody>
      </p:sp>
      <p:sp>
        <p:nvSpPr>
          <p:cNvPr id="72" name="Shape 70"/>
          <p:cNvSpPr/>
          <p:nvPr/>
        </p:nvSpPr>
        <p:spPr>
          <a:xfrm>
            <a:off x="9244584" y="3319272"/>
            <a:ext cx="109728" cy="109728"/>
          </a:xfrm>
          <a:prstGeom prst="ellipse">
            <a:avLst/>
          </a:prstGeom>
          <a:solidFill>
            <a:srgbClr val="607080"/>
          </a:solidFill>
          <a:ln w="12700">
            <a:solidFill>
              <a:srgbClr val="607080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9400032" y="3246120"/>
            <a:ext cx="24505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 — Bias Methodology: ✓</a:t>
            </a:r>
            <a:endParaRPr lang="en-US" sz="1050" dirty="0"/>
          </a:p>
        </p:txBody>
      </p:sp>
      <p:sp>
        <p:nvSpPr>
          <p:cNvPr id="74" name="Shape 72"/>
          <p:cNvSpPr/>
          <p:nvPr/>
        </p:nvSpPr>
        <p:spPr>
          <a:xfrm>
            <a:off x="9244584" y="3703320"/>
            <a:ext cx="109728" cy="109728"/>
          </a:xfrm>
          <a:prstGeom prst="ellipse">
            <a:avLst/>
          </a:prstGeom>
          <a:solidFill>
            <a:srgbClr val="607080"/>
          </a:solidFill>
          <a:ln w="12700">
            <a:solidFill>
              <a:srgbClr val="607080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9400032" y="3630168"/>
            <a:ext cx="24505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 — Incident Response: ✓</a:t>
            </a:r>
            <a:endParaRPr lang="en-US" sz="1050" dirty="0"/>
          </a:p>
        </p:txBody>
      </p:sp>
      <p:sp>
        <p:nvSpPr>
          <p:cNvPr id="76" name="Shape 74"/>
          <p:cNvSpPr/>
          <p:nvPr/>
        </p:nvSpPr>
        <p:spPr>
          <a:xfrm>
            <a:off x="9244584" y="4087368"/>
            <a:ext cx="109728" cy="109728"/>
          </a:xfrm>
          <a:prstGeom prst="ellipse">
            <a:avLst/>
          </a:prstGeom>
          <a:solidFill>
            <a:srgbClr val="607080"/>
          </a:solidFill>
          <a:ln w="12700">
            <a:solidFill>
              <a:srgbClr val="607080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9400032" y="4014216"/>
            <a:ext cx="24505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mapping: Appendix A of Policy ✓</a:t>
            </a:r>
            <a:endParaRPr lang="en-US" sz="1050" dirty="0"/>
          </a:p>
        </p:txBody>
      </p:sp>
      <p:sp>
        <p:nvSpPr>
          <p:cNvPr id="78" name="Shape 76"/>
          <p:cNvSpPr/>
          <p:nvPr/>
        </p:nvSpPr>
        <p:spPr>
          <a:xfrm>
            <a:off x="9153144" y="4526280"/>
            <a:ext cx="2788920" cy="548640"/>
          </a:xfrm>
          <a:prstGeom prst="rect">
            <a:avLst/>
          </a:prstGeom>
          <a:solidFill>
            <a:srgbClr val="DEEAF1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9226296" y="452628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0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Sanction: Voluntary — builds stakeholder trust</a:t>
            </a:r>
            <a:endParaRPr lang="en-US" sz="1000" dirty="0"/>
          </a:p>
        </p:txBody>
      </p:sp>
      <p:sp>
        <p:nvSpPr>
          <p:cNvPr id="80" name="Shape 78"/>
          <p:cNvSpPr/>
          <p:nvPr/>
        </p:nvSpPr>
        <p:spPr>
          <a:xfrm>
            <a:off x="320040" y="5193792"/>
            <a:ext cx="11567160" cy="457200"/>
          </a:xfrm>
          <a:prstGeom prst="rect">
            <a:avLst/>
          </a:prstGeom>
          <a:solidFill>
            <a:srgbClr val="E2EFDA"/>
          </a:solidFill>
          <a:ln w="12700">
            <a:solidFill>
              <a:srgbClr val="375623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457200" y="5193792"/>
            <a:ext cx="11338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75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ISO 27001:2022 already certified — AI infrastructure and incident management in scope. Significantly accelerates ISO 42001 gap closure.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58368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65836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0"/>
            <a:ext cx="1182319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| Implementation Roadmap — 2026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65836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DD7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AInnovate Inc.  |  AI Governance Framework  |  CONFIDENTIAL  |  February 2026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9875520" y="658368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DD7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AIN-GOV  v1.0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320040" y="749808"/>
            <a:ext cx="115214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0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governance is a continuous programme. Key milestones from framework launch through ISO 42001 certification.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2194560"/>
            <a:ext cx="11247120" cy="64008"/>
          </a:xfrm>
          <a:prstGeom prst="rect">
            <a:avLst/>
          </a:prstGeom>
          <a:solidFill>
            <a:srgbClr val="D9D9D9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645920" y="2103120"/>
            <a:ext cx="246888" cy="246888"/>
          </a:xfrm>
          <a:prstGeom prst="ellipse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97280" y="1481328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2026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Jan–Mar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462272" y="2103120"/>
            <a:ext cx="246888" cy="246888"/>
          </a:xfrm>
          <a:prstGeom prst="ellipse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913632" y="1481328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 2026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Apr–Jun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278624" y="2103120"/>
            <a:ext cx="246888" cy="246888"/>
          </a:xfrm>
          <a:prstGeom prst="ellipse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729984" y="1481328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 2026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Jul–Sep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10094976" y="2103120"/>
            <a:ext cx="246888" cy="246888"/>
          </a:xfrm>
          <a:prstGeom prst="ellipse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546336" y="1481328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 2026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Oct–Dec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20040" y="2542032"/>
            <a:ext cx="914400" cy="1261872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20040" y="2542032"/>
            <a:ext cx="914400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1280160" y="2542032"/>
            <a:ext cx="2697480" cy="1261872"/>
          </a:xfrm>
          <a:prstGeom prst="rect">
            <a:avLst/>
          </a:prstGeom>
          <a:solidFill>
            <a:srgbClr val="DEEAF1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280160" y="2542032"/>
            <a:ext cx="64008" cy="1261872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389888" y="2615184"/>
            <a:ext cx="2514600" cy="11338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Gov Policy effective (Feb)</a:t>
            </a:r>
            <a:endParaRPr lang="en-US" sz="11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AIGC inaugural meeting (Mar)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096512" y="2542032"/>
            <a:ext cx="2697480" cy="1261872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096512" y="2542032"/>
            <a:ext cx="64008" cy="1261872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206240" y="2615184"/>
            <a:ext cx="2514600" cy="11338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 AI Act conformity</a:t>
            </a:r>
            <a:endParaRPr lang="en-US" sz="11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assessment (Apr)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912864" y="2542032"/>
            <a:ext cx="2697480" cy="1261872"/>
          </a:xfrm>
          <a:prstGeom prst="rect">
            <a:avLst/>
          </a:prstGeom>
          <a:solidFill>
            <a:srgbClr val="DEEAF1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912864" y="2542032"/>
            <a:ext cx="64008" cy="1261872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022592" y="2615184"/>
            <a:ext cx="2514600" cy="11338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policy review (Aug)</a:t>
            </a:r>
            <a:endParaRPr lang="en-US" sz="11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 42001 gap analysis done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9729216" y="2542032"/>
            <a:ext cx="2697480" cy="1261872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9729216" y="2542032"/>
            <a:ext cx="64008" cy="1261872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838944" y="2615184"/>
            <a:ext cx="2514600" cy="11338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 42001 cert audit (Nov)</a:t>
            </a:r>
            <a:endParaRPr lang="en-US" sz="11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annual AI report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320040" y="3986784"/>
            <a:ext cx="914400" cy="1261872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20040" y="3986784"/>
            <a:ext cx="914400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1280160" y="3986784"/>
            <a:ext cx="2697480" cy="1261872"/>
          </a:xfrm>
          <a:prstGeom prst="rect">
            <a:avLst/>
          </a:prstGeom>
          <a:solidFill>
            <a:srgbClr val="DEEAF1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1280160" y="3986784"/>
            <a:ext cx="64008" cy="1261872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389888" y="4059936"/>
            <a:ext cx="2514600" cy="11338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Red-team regression suite (Feb)</a:t>
            </a:r>
            <a:endParaRPr lang="en-US" sz="11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monitoring dashboard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4096512" y="3986784"/>
            <a:ext cx="2697480" cy="1261872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096512" y="3986784"/>
            <a:ext cx="64008" cy="1261872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206240" y="4059936"/>
            <a:ext cx="2514600" cy="11338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hallucination pipeline</a:t>
            </a:r>
            <a:endParaRPr lang="en-US" sz="11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Constitutional AI critique layer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6912864" y="3986784"/>
            <a:ext cx="2697480" cy="1261872"/>
          </a:xfrm>
          <a:prstGeom prst="rect">
            <a:avLst/>
          </a:prstGeom>
          <a:solidFill>
            <a:srgbClr val="DEEAF1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6912864" y="3986784"/>
            <a:ext cx="64008" cy="1261872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022592" y="4059936"/>
            <a:ext cx="2514600" cy="11338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Multi-region DR evaluation</a:t>
            </a:r>
            <a:endParaRPr lang="en-US" sz="11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Fine-tuning refresh cycle #1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9729216" y="3986784"/>
            <a:ext cx="2697480" cy="1261872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9729216" y="3986784"/>
            <a:ext cx="64008" cy="1261872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9838944" y="4059936"/>
            <a:ext cx="2514600" cy="11338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GenStudio v2.0 evaluation</a:t>
            </a:r>
            <a:endParaRPr lang="en-US" sz="11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Bias monitoring v2 live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320040" y="5431536"/>
            <a:ext cx="914400" cy="1261872"/>
          </a:xfrm>
          <a:prstGeom prst="rect">
            <a:avLst/>
          </a:prstGeom>
          <a:solidFill>
            <a:srgbClr val="4472C4"/>
          </a:solidFill>
          <a:ln w="12700">
            <a:solidFill>
              <a:srgbClr val="4472C4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20040" y="5431536"/>
            <a:ext cx="914400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&amp; Bias</a:t>
            </a:r>
            <a:endParaRPr lang="en-US" sz="1200" dirty="0"/>
          </a:p>
        </p:txBody>
      </p:sp>
      <p:sp>
        <p:nvSpPr>
          <p:cNvPr id="48" name="Shape 46"/>
          <p:cNvSpPr/>
          <p:nvPr/>
        </p:nvSpPr>
        <p:spPr>
          <a:xfrm>
            <a:off x="1280160" y="5431536"/>
            <a:ext cx="2697480" cy="1261872"/>
          </a:xfrm>
          <a:prstGeom prst="rect">
            <a:avLst/>
          </a:prstGeom>
          <a:solidFill>
            <a:srgbClr val="DEEAF1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1280160" y="5431536"/>
            <a:ext cx="64008" cy="1261872"/>
          </a:xfrm>
          <a:prstGeom prst="rect">
            <a:avLst/>
          </a:prstGeom>
          <a:solidFill>
            <a:srgbClr val="4472C4"/>
          </a:solidFill>
          <a:ln w="12700">
            <a:solidFill>
              <a:srgbClr val="4472C4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1389888" y="5504688"/>
            <a:ext cx="2514600" cy="11338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bias report published</a:t>
            </a:r>
            <a:endParaRPr lang="en-US" sz="11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register monitoring active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4096512" y="5431536"/>
            <a:ext cx="2697480" cy="1261872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4096512" y="5431536"/>
            <a:ext cx="64008" cy="1261872"/>
          </a:xfrm>
          <a:prstGeom prst="rect">
            <a:avLst/>
          </a:prstGeom>
          <a:solidFill>
            <a:srgbClr val="4472C4"/>
          </a:solidFill>
          <a:ln w="12700">
            <a:solidFill>
              <a:srgbClr val="4472C4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206240" y="5504688"/>
            <a:ext cx="2514600" cy="11338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Religion refusal fix (Mar)</a:t>
            </a:r>
            <a:endParaRPr lang="en-US" sz="11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AIGC risk review</a:t>
            </a:r>
            <a:endParaRPr lang="en-US" sz="1100" dirty="0"/>
          </a:p>
        </p:txBody>
      </p:sp>
      <p:sp>
        <p:nvSpPr>
          <p:cNvPr id="54" name="Shape 52"/>
          <p:cNvSpPr/>
          <p:nvPr/>
        </p:nvSpPr>
        <p:spPr>
          <a:xfrm>
            <a:off x="6912864" y="5431536"/>
            <a:ext cx="2697480" cy="1261872"/>
          </a:xfrm>
          <a:prstGeom prst="rect">
            <a:avLst/>
          </a:prstGeom>
          <a:solidFill>
            <a:srgbClr val="DEEAF1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6912864" y="5431536"/>
            <a:ext cx="64008" cy="1261872"/>
          </a:xfrm>
          <a:prstGeom prst="rect">
            <a:avLst/>
          </a:prstGeom>
          <a:solidFill>
            <a:srgbClr val="4472C4"/>
          </a:solidFill>
          <a:ln w="12700">
            <a:solidFill>
              <a:srgbClr val="4472C4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7022592" y="5504688"/>
            <a:ext cx="2514600" cy="11338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Semi-annual bias assessment #2</a:t>
            </a:r>
            <a:endParaRPr lang="en-US" sz="11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poisoning controls</a:t>
            </a:r>
            <a:endParaRPr lang="en-US" sz="1100" dirty="0"/>
          </a:p>
        </p:txBody>
      </p:sp>
      <p:sp>
        <p:nvSpPr>
          <p:cNvPr id="57" name="Shape 55"/>
          <p:cNvSpPr/>
          <p:nvPr/>
        </p:nvSpPr>
        <p:spPr>
          <a:xfrm>
            <a:off x="9729216" y="5431536"/>
            <a:ext cx="2697480" cy="1261872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9729216" y="5431536"/>
            <a:ext cx="64008" cy="1261872"/>
          </a:xfrm>
          <a:prstGeom prst="rect">
            <a:avLst/>
          </a:prstGeom>
          <a:solidFill>
            <a:srgbClr val="4472C4"/>
          </a:solidFill>
          <a:ln w="12700">
            <a:solidFill>
              <a:srgbClr val="4472C4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9838944" y="5504688"/>
            <a:ext cx="2514600" cy="11338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risk assessment update</a:t>
            </a:r>
            <a:endParaRPr lang="en-US" sz="11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card bias results published</a:t>
            </a:r>
            <a:endParaRPr lang="en-US" sz="1100" dirty="0"/>
          </a:p>
        </p:txBody>
      </p:sp>
      <p:sp>
        <p:nvSpPr>
          <p:cNvPr id="60" name="Shape 58"/>
          <p:cNvSpPr/>
          <p:nvPr/>
        </p:nvSpPr>
        <p:spPr>
          <a:xfrm>
            <a:off x="9601200" y="4937760"/>
            <a:ext cx="2286000" cy="694944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9601200" y="4937760"/>
            <a:ext cx="22860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 ISO 42001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Q4 2026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58368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65836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0"/>
            <a:ext cx="1182319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| KPIs &amp; Ongoing Monitoring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65836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DD7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AInnovate Inc.  |  AI Governance Framework  |  CONFIDENTIAL  |  February 2026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9875520" y="658368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DD7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AIN-GOV  v1.0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320040" y="749808"/>
            <a:ext cx="115214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0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AIGC monitors AI governance health through a balanced scorecard reported quarterly to the Board.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20040" y="1170432"/>
            <a:ext cx="278892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0040" y="1170432"/>
            <a:ext cx="2788920" cy="100584"/>
          </a:xfrm>
          <a:prstGeom prst="rect">
            <a:avLst/>
          </a:prstGeom>
          <a:solidFill>
            <a:srgbClr val="375623"/>
          </a:solidFill>
          <a:ln w="12700">
            <a:solidFill>
              <a:srgbClr val="37562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29768" y="1335024"/>
            <a:ext cx="25603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Bias Assessment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Frequency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29768" y="1883664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2× per year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post-incident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29768" y="2359152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0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Owner: AI Gov Lead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29768" y="2651760"/>
            <a:ext cx="2286000" cy="256032"/>
          </a:xfrm>
          <a:prstGeom prst="rect">
            <a:avLst/>
          </a:prstGeom>
          <a:solidFill>
            <a:srgbClr val="E2EFDA"/>
          </a:solidFill>
          <a:ln w="12700">
            <a:solidFill>
              <a:srgbClr val="37562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29768" y="265176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75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TRACK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264408" y="1170432"/>
            <a:ext cx="278892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264408" y="1170432"/>
            <a:ext cx="2788920" cy="100584"/>
          </a:xfrm>
          <a:prstGeom prst="rect">
            <a:avLst/>
          </a:prstGeom>
          <a:solidFill>
            <a:srgbClr val="7F4F00"/>
          </a:solidFill>
          <a:ln w="12700">
            <a:solidFill>
              <a:srgbClr val="7F4F0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374136" y="1335024"/>
            <a:ext cx="25603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Residual HIGH/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Risks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374136" y="1883664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&lt; 4 open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any time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374136" y="2359152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0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Owner: Model Owner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374136" y="2651760"/>
            <a:ext cx="2286000" cy="256032"/>
          </a:xfrm>
          <a:prstGeom prst="rect">
            <a:avLst/>
          </a:prstGeom>
          <a:solidFill>
            <a:srgbClr val="FFF2CC"/>
          </a:solidFill>
          <a:ln w="12700">
            <a:solidFill>
              <a:srgbClr val="7F4F0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374136" y="265176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7F4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OPEN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208776" y="1170432"/>
            <a:ext cx="278892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208776" y="1170432"/>
            <a:ext cx="2788920" cy="100584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318504" y="1335024"/>
            <a:ext cx="25603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 Incident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 Time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318504" y="1883664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&lt; 1 hr IC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2 hrs contain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318504" y="2359152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0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Owner: IC (Mihir T.)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6318504" y="2651760"/>
            <a:ext cx="2286000" cy="256032"/>
          </a:xfrm>
          <a:prstGeom prst="rect">
            <a:avLst/>
          </a:prstGeom>
          <a:solidFill>
            <a:srgbClr val="DEEAF1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318504" y="265176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SET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9153144" y="1170432"/>
            <a:ext cx="278892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9153144" y="1170432"/>
            <a:ext cx="2788920" cy="100584"/>
          </a:xfrm>
          <a:prstGeom prst="rect">
            <a:avLst/>
          </a:prstGeom>
          <a:solidFill>
            <a:srgbClr val="375623"/>
          </a:solidFill>
          <a:ln w="12700">
            <a:solidFill>
              <a:srgbClr val="375623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262872" y="1335024"/>
            <a:ext cx="25603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Red-Team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Exercises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9262872" y="1883664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1× per year min.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9262872" y="2359152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0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Owner: Security Eng.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9262872" y="2651760"/>
            <a:ext cx="2286000" cy="256032"/>
          </a:xfrm>
          <a:prstGeom prst="rect">
            <a:avLst/>
          </a:prstGeom>
          <a:solidFill>
            <a:srgbClr val="E2EFDA"/>
          </a:solidFill>
          <a:ln w="12700">
            <a:solidFill>
              <a:srgbClr val="375623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9262872" y="265176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75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 2026 ✓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320040" y="3182112"/>
            <a:ext cx="278892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320040" y="3182112"/>
            <a:ext cx="2788920" cy="100584"/>
          </a:xfrm>
          <a:prstGeom prst="rect">
            <a:avLst/>
          </a:prstGeom>
          <a:solidFill>
            <a:srgbClr val="375623"/>
          </a:solidFill>
          <a:ln w="12700">
            <a:solidFill>
              <a:srgbClr val="375623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29768" y="3346704"/>
            <a:ext cx="25603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Regulatory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 SLA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429768" y="3895344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100% on time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429768" y="4370832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0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Owner: CLO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429768" y="4663440"/>
            <a:ext cx="2286000" cy="256032"/>
          </a:xfrm>
          <a:prstGeom prst="rect">
            <a:avLst/>
          </a:prstGeom>
          <a:solidFill>
            <a:srgbClr val="E2EFDA"/>
          </a:solidFill>
          <a:ln w="12700">
            <a:solidFill>
              <a:srgbClr val="375623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29768" y="466344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75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TRACK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3264408" y="3182112"/>
            <a:ext cx="278892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3264408" y="3182112"/>
            <a:ext cx="2788920" cy="100584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374136" y="3346704"/>
            <a:ext cx="25603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AIGC Meetings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Year</a:t>
            </a:r>
            <a:endParaRPr lang="en-US" sz="1300" dirty="0"/>
          </a:p>
        </p:txBody>
      </p:sp>
      <p:sp>
        <p:nvSpPr>
          <p:cNvPr id="47" name="Text 45"/>
          <p:cNvSpPr/>
          <p:nvPr/>
        </p:nvSpPr>
        <p:spPr>
          <a:xfrm>
            <a:off x="3374136" y="3895344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4 regular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emergency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3374136" y="4370832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0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Owner: AIGC Chair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3374136" y="4663440"/>
            <a:ext cx="2286000" cy="256032"/>
          </a:xfrm>
          <a:prstGeom prst="rect">
            <a:avLst/>
          </a:prstGeom>
          <a:solidFill>
            <a:srgbClr val="DEEAF1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3374136" y="466344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SCHEDULED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6208776" y="3182112"/>
            <a:ext cx="278892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52" name="Shape 50"/>
          <p:cNvSpPr/>
          <p:nvPr/>
        </p:nvSpPr>
        <p:spPr>
          <a:xfrm>
            <a:off x="6208776" y="3182112"/>
            <a:ext cx="2788920" cy="100584"/>
          </a:xfrm>
          <a:prstGeom prst="rect">
            <a:avLst/>
          </a:prstGeom>
          <a:solidFill>
            <a:srgbClr val="7F4F00"/>
          </a:solidFill>
          <a:ln w="12700">
            <a:solidFill>
              <a:srgbClr val="7F4F0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318504" y="3346704"/>
            <a:ext cx="25603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 42001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Certification</a:t>
            </a:r>
            <a:endParaRPr lang="en-US" sz="1300" dirty="0"/>
          </a:p>
        </p:txBody>
      </p:sp>
      <p:sp>
        <p:nvSpPr>
          <p:cNvPr id="54" name="Text 52"/>
          <p:cNvSpPr/>
          <p:nvPr/>
        </p:nvSpPr>
        <p:spPr>
          <a:xfrm>
            <a:off x="6318504" y="3895344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Q4 2026</a:t>
            </a:r>
            <a:endParaRPr lang="en-US" sz="1100" dirty="0"/>
          </a:p>
        </p:txBody>
      </p:sp>
      <p:sp>
        <p:nvSpPr>
          <p:cNvPr id="55" name="Text 53"/>
          <p:cNvSpPr/>
          <p:nvPr/>
        </p:nvSpPr>
        <p:spPr>
          <a:xfrm>
            <a:off x="6318504" y="4370832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0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Owner: AI Gov Lead</a:t>
            </a:r>
            <a:endParaRPr lang="en-US" sz="1000" dirty="0"/>
          </a:p>
        </p:txBody>
      </p:sp>
      <p:sp>
        <p:nvSpPr>
          <p:cNvPr id="56" name="Shape 54"/>
          <p:cNvSpPr/>
          <p:nvPr/>
        </p:nvSpPr>
        <p:spPr>
          <a:xfrm>
            <a:off x="6318504" y="4663440"/>
            <a:ext cx="2286000" cy="256032"/>
          </a:xfrm>
          <a:prstGeom prst="rect">
            <a:avLst/>
          </a:prstGeom>
          <a:solidFill>
            <a:srgbClr val="FFF2CC"/>
          </a:solidFill>
          <a:ln w="12700">
            <a:solidFill>
              <a:srgbClr val="7F4F00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6318504" y="466344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7F4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PROGRESS</a:t>
            </a:r>
            <a:endParaRPr lang="en-US" sz="1000" dirty="0"/>
          </a:p>
        </p:txBody>
      </p:sp>
      <p:sp>
        <p:nvSpPr>
          <p:cNvPr id="58" name="Shape 56"/>
          <p:cNvSpPr/>
          <p:nvPr/>
        </p:nvSpPr>
        <p:spPr>
          <a:xfrm>
            <a:off x="9153144" y="3182112"/>
            <a:ext cx="278892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59" name="Shape 57"/>
          <p:cNvSpPr/>
          <p:nvPr/>
        </p:nvSpPr>
        <p:spPr>
          <a:xfrm>
            <a:off x="9153144" y="3182112"/>
            <a:ext cx="2788920" cy="100584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9262872" y="3346704"/>
            <a:ext cx="25603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PIR Completion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P1/P2</a:t>
            </a:r>
            <a:endParaRPr lang="en-US" sz="1300" dirty="0"/>
          </a:p>
        </p:txBody>
      </p:sp>
      <p:sp>
        <p:nvSpPr>
          <p:cNvPr id="61" name="Text 59"/>
          <p:cNvSpPr/>
          <p:nvPr/>
        </p:nvSpPr>
        <p:spPr>
          <a:xfrm>
            <a:off x="9262872" y="3895344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100% within SLA</a:t>
            </a:r>
            <a:endParaRPr lang="en-US" sz="1100" dirty="0"/>
          </a:p>
        </p:txBody>
      </p:sp>
      <p:sp>
        <p:nvSpPr>
          <p:cNvPr id="62" name="Text 60"/>
          <p:cNvSpPr/>
          <p:nvPr/>
        </p:nvSpPr>
        <p:spPr>
          <a:xfrm>
            <a:off x="9262872" y="4370832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0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Owner: IC</a:t>
            </a:r>
            <a:endParaRPr lang="en-US" sz="1000" dirty="0"/>
          </a:p>
        </p:txBody>
      </p:sp>
      <p:sp>
        <p:nvSpPr>
          <p:cNvPr id="63" name="Shape 61"/>
          <p:cNvSpPr/>
          <p:nvPr/>
        </p:nvSpPr>
        <p:spPr>
          <a:xfrm>
            <a:off x="9262872" y="4663440"/>
            <a:ext cx="2286000" cy="256032"/>
          </a:xfrm>
          <a:prstGeom prst="rect">
            <a:avLst/>
          </a:prstGeom>
          <a:solidFill>
            <a:srgbClr val="DEEAF1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9262872" y="466344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SET</a:t>
            </a:r>
            <a:endParaRPr lang="en-US" sz="1000" dirty="0"/>
          </a:p>
        </p:txBody>
      </p:sp>
      <p:sp>
        <p:nvSpPr>
          <p:cNvPr id="65" name="Shape 63"/>
          <p:cNvSpPr/>
          <p:nvPr/>
        </p:nvSpPr>
        <p:spPr>
          <a:xfrm>
            <a:off x="320040" y="5257800"/>
            <a:ext cx="11567160" cy="365760"/>
          </a:xfrm>
          <a:prstGeom prst="rect">
            <a:avLst/>
          </a:prstGeom>
          <a:solidFill>
            <a:srgbClr val="DEEAF1"/>
          </a:solidFill>
          <a:ln w="12700">
            <a:solidFill>
              <a:srgbClr val="BDD7EE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457200" y="5257800"/>
            <a:ext cx="11338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Reporting: Monthly to Model Owner  ·  Quarterly AI Risk Report to AIGC  ·  Annual AI Governance Report to Board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58368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65836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0"/>
            <a:ext cx="1182319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| Board Actions Required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65836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DD7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AInnovate Inc.  |  AI Governance Framework  |  CONFIDENTIAL  |  February 2026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9875520" y="658368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DD7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AIN-GOV  v1.0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320040" y="749808"/>
            <a:ext cx="115214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0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AI Governance Committee requests the Board's approval, noting, and direction on the following items.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20040" y="1170432"/>
            <a:ext cx="11567160" cy="822960"/>
          </a:xfrm>
          <a:prstGeom prst="rect">
            <a:avLst/>
          </a:prstGeom>
          <a:solidFill>
            <a:srgbClr val="DEEAF1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0040" y="1170432"/>
            <a:ext cx="1005840" cy="82296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0040" y="1170432"/>
            <a:ext cx="1005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417320" y="1225296"/>
            <a:ext cx="6858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Governance Policy (AIN-GOV-001)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417320" y="1572768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 the AI Governance Policy as the governing document for responsible AI, effective 01 February 2026.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503920" y="1225296"/>
            <a:ext cx="3200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0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Owner: Board Resolution Required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8503920" y="1572768"/>
            <a:ext cx="2560320" cy="301752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503920" y="1572768"/>
            <a:ext cx="25603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Due: This Meeting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20040" y="2084832"/>
            <a:ext cx="1156716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20040" y="2084832"/>
            <a:ext cx="1005840" cy="82296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20040" y="2084832"/>
            <a:ext cx="1005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417320" y="2139696"/>
            <a:ext cx="6858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GenStudio Risk Posture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417320" y="2487168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 risk assessment: 15 risks assessed, 3 residual HIGH risks under active remediation, zero CRITICAL residual. Review: August 2026.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8503920" y="2139696"/>
            <a:ext cx="3200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0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Owner: AIGC to report quarterly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8503920" y="2487168"/>
            <a:ext cx="2560320" cy="301752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503920" y="2487168"/>
            <a:ext cx="25603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Due: Ongoing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20040" y="2999232"/>
            <a:ext cx="11567160" cy="822960"/>
          </a:xfrm>
          <a:prstGeom prst="rect">
            <a:avLst/>
          </a:prstGeom>
          <a:solidFill>
            <a:srgbClr val="DEEAF1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20040" y="2999232"/>
            <a:ext cx="1005840" cy="822960"/>
          </a:xfrm>
          <a:prstGeom prst="rect">
            <a:avLst/>
          </a:prstGeom>
          <a:solidFill>
            <a:srgbClr val="4472C4"/>
          </a:solidFill>
          <a:ln w="12700">
            <a:solidFill>
              <a:srgbClr val="4472C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20040" y="2999232"/>
            <a:ext cx="1005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ENDORSE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1417320" y="3054096"/>
            <a:ext cx="6858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ISO/IEC 42001 Certification Programme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1417320" y="3401568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Endorse the ISO 42001 roadmap targeting Q4 2026. ISO 27001 foundation in place; gap assessment underway.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8503920" y="3054096"/>
            <a:ext cx="3200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0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Owner: CTO + AI Gov Lead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8503920" y="3401568"/>
            <a:ext cx="2560320" cy="301752"/>
          </a:xfrm>
          <a:prstGeom prst="rect">
            <a:avLst/>
          </a:prstGeom>
          <a:solidFill>
            <a:srgbClr val="4472C4"/>
          </a:solidFill>
          <a:ln w="12700">
            <a:solidFill>
              <a:srgbClr val="4472C4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503920" y="3401568"/>
            <a:ext cx="25603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Due: Q4 2026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320040" y="3913632"/>
            <a:ext cx="1156716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20040" y="3913632"/>
            <a:ext cx="1005840" cy="82296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20040" y="3913632"/>
            <a:ext cx="1005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1417320" y="3968496"/>
            <a:ext cx="6858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Governance Reporting Cadence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1417320" y="4315968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Board receives annual AI Governance Report and AIGC provides quarterly KPI updates to Audit &amp; Risk Committee.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8503920" y="3968496"/>
            <a:ext cx="3200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0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Owner: Company Secretary + AI Gov Lead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8503920" y="4315968"/>
            <a:ext cx="2560320" cy="30175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8503920" y="4315968"/>
            <a:ext cx="25603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Due: Confirm today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320040" y="4828032"/>
            <a:ext cx="11567160" cy="822960"/>
          </a:xfrm>
          <a:prstGeom prst="rect">
            <a:avLst/>
          </a:prstGeom>
          <a:solidFill>
            <a:srgbClr val="DEEAF1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320040" y="4828032"/>
            <a:ext cx="1005840" cy="822960"/>
          </a:xfrm>
          <a:prstGeom prst="rect">
            <a:avLst/>
          </a:prstGeom>
          <a:solidFill>
            <a:srgbClr val="607080"/>
          </a:solidFill>
          <a:ln w="12700">
            <a:solidFill>
              <a:srgbClr val="60708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20040" y="4828032"/>
            <a:ext cx="1005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1417320" y="4882896"/>
            <a:ext cx="6858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Regulatory Watch — EU AI Act</a:t>
            </a:r>
            <a:endParaRPr lang="en-US" sz="1400" dirty="0"/>
          </a:p>
        </p:txBody>
      </p:sp>
      <p:sp>
        <p:nvSpPr>
          <p:cNvPr id="45" name="Text 43"/>
          <p:cNvSpPr/>
          <p:nvPr/>
        </p:nvSpPr>
        <p:spPr>
          <a:xfrm>
            <a:off x="1417320" y="5230368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 conducting conformity assessment (April 2026 target). Board to be informed if GenStudio risk classification changes.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8503920" y="4882896"/>
            <a:ext cx="3200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0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Owner: CLO to report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8503920" y="5230368"/>
            <a:ext cx="2560320" cy="301752"/>
          </a:xfrm>
          <a:prstGeom prst="rect">
            <a:avLst/>
          </a:prstGeom>
          <a:solidFill>
            <a:srgbClr val="607080"/>
          </a:solidFill>
          <a:ln w="12700">
            <a:solidFill>
              <a:srgbClr val="60708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8503920" y="5230368"/>
            <a:ext cx="25603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Due: Apr 2026 update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0" y="457200"/>
            <a:ext cx="64008" cy="64008"/>
          </a:xfrm>
          <a:prstGeom prst="ellipse">
            <a:avLst/>
          </a:prstGeom>
          <a:solidFill>
            <a:srgbClr val="2E75B6">
              <a:alpha val="35000"/>
            </a:srgbClr>
          </a:solidFill>
          <a:ln w="12700">
            <a:solidFill>
              <a:srgbClr val="2E75B6">
                <a:alpha val="3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715000" y="457200"/>
            <a:ext cx="64008" cy="64008"/>
          </a:xfrm>
          <a:prstGeom prst="ellipse">
            <a:avLst/>
          </a:prstGeom>
          <a:solidFill>
            <a:srgbClr val="2E75B6">
              <a:alpha val="35000"/>
            </a:srgbClr>
          </a:solidFill>
          <a:ln w="12700">
            <a:solidFill>
              <a:srgbClr val="2E75B6">
                <a:alpha val="3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0" y="457200"/>
            <a:ext cx="64008" cy="64008"/>
          </a:xfrm>
          <a:prstGeom prst="ellipse">
            <a:avLst/>
          </a:prstGeom>
          <a:solidFill>
            <a:srgbClr val="2E75B6">
              <a:alpha val="35000"/>
            </a:srgbClr>
          </a:solidFill>
          <a:ln w="12700">
            <a:solidFill>
              <a:srgbClr val="2E75B6">
                <a:alpha val="3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086600" y="457200"/>
            <a:ext cx="64008" cy="64008"/>
          </a:xfrm>
          <a:prstGeom prst="ellipse">
            <a:avLst/>
          </a:prstGeom>
          <a:solidFill>
            <a:srgbClr val="2E75B6">
              <a:alpha val="35000"/>
            </a:srgbClr>
          </a:solidFill>
          <a:ln w="12700">
            <a:solidFill>
              <a:srgbClr val="2E75B6">
                <a:alpha val="3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772400" y="457200"/>
            <a:ext cx="64008" cy="64008"/>
          </a:xfrm>
          <a:prstGeom prst="ellipse">
            <a:avLst/>
          </a:prstGeom>
          <a:solidFill>
            <a:srgbClr val="2E75B6">
              <a:alpha val="35000"/>
            </a:srgbClr>
          </a:solidFill>
          <a:ln w="12700">
            <a:solidFill>
              <a:srgbClr val="2E75B6">
                <a:alpha val="3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458200" y="457200"/>
            <a:ext cx="64008" cy="64008"/>
          </a:xfrm>
          <a:prstGeom prst="ellipse">
            <a:avLst/>
          </a:prstGeom>
          <a:solidFill>
            <a:srgbClr val="2E75B6">
              <a:alpha val="35000"/>
            </a:srgbClr>
          </a:solidFill>
          <a:ln w="12700">
            <a:solidFill>
              <a:srgbClr val="2E75B6">
                <a:alpha val="35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144000" y="457200"/>
            <a:ext cx="64008" cy="64008"/>
          </a:xfrm>
          <a:prstGeom prst="ellipse">
            <a:avLst/>
          </a:prstGeom>
          <a:solidFill>
            <a:srgbClr val="2E75B6">
              <a:alpha val="35000"/>
            </a:srgbClr>
          </a:solidFill>
          <a:ln w="12700">
            <a:solidFill>
              <a:srgbClr val="2E75B6">
                <a:alpha val="3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829800" y="457200"/>
            <a:ext cx="64008" cy="64008"/>
          </a:xfrm>
          <a:prstGeom prst="ellipse">
            <a:avLst/>
          </a:prstGeom>
          <a:solidFill>
            <a:srgbClr val="2E75B6">
              <a:alpha val="35000"/>
            </a:srgbClr>
          </a:solidFill>
          <a:ln w="12700">
            <a:solidFill>
              <a:srgbClr val="2E75B6">
                <a:alpha val="35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515600" y="457200"/>
            <a:ext cx="64008" cy="64008"/>
          </a:xfrm>
          <a:prstGeom prst="ellipse">
            <a:avLst/>
          </a:prstGeom>
          <a:solidFill>
            <a:srgbClr val="2E75B6">
              <a:alpha val="35000"/>
            </a:srgbClr>
          </a:solidFill>
          <a:ln w="12700">
            <a:solidFill>
              <a:srgbClr val="2E75B6">
                <a:alpha val="35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1201400" y="457200"/>
            <a:ext cx="64008" cy="64008"/>
          </a:xfrm>
          <a:prstGeom prst="ellipse">
            <a:avLst/>
          </a:prstGeom>
          <a:solidFill>
            <a:srgbClr val="2E75B6">
              <a:alpha val="35000"/>
            </a:srgbClr>
          </a:solidFill>
          <a:ln w="12700">
            <a:solidFill>
              <a:srgbClr val="2E75B6">
                <a:alpha val="35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029200" y="1463040"/>
            <a:ext cx="64008" cy="64008"/>
          </a:xfrm>
          <a:prstGeom prst="ellipse">
            <a:avLst/>
          </a:prstGeom>
          <a:solidFill>
            <a:srgbClr val="2E75B6">
              <a:alpha val="35000"/>
            </a:srgbClr>
          </a:solidFill>
          <a:ln w="12700">
            <a:solidFill>
              <a:srgbClr val="2E75B6">
                <a:alpha val="35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715000" y="1463040"/>
            <a:ext cx="64008" cy="64008"/>
          </a:xfrm>
          <a:prstGeom prst="ellipse">
            <a:avLst/>
          </a:prstGeom>
          <a:solidFill>
            <a:srgbClr val="2E75B6">
              <a:alpha val="35000"/>
            </a:srgbClr>
          </a:solidFill>
          <a:ln w="12700">
            <a:solidFill>
              <a:srgbClr val="2E75B6">
                <a:alpha val="35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400800" y="1463040"/>
            <a:ext cx="64008" cy="64008"/>
          </a:xfrm>
          <a:prstGeom prst="ellipse">
            <a:avLst/>
          </a:prstGeom>
          <a:solidFill>
            <a:srgbClr val="2E75B6">
              <a:alpha val="35000"/>
            </a:srgbClr>
          </a:solidFill>
          <a:ln w="12700">
            <a:solidFill>
              <a:srgbClr val="2E75B6">
                <a:alpha val="35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086600" y="1463040"/>
            <a:ext cx="64008" cy="64008"/>
          </a:xfrm>
          <a:prstGeom prst="ellipse">
            <a:avLst/>
          </a:prstGeom>
          <a:solidFill>
            <a:srgbClr val="2E75B6">
              <a:alpha val="35000"/>
            </a:srgbClr>
          </a:solidFill>
          <a:ln w="12700">
            <a:solidFill>
              <a:srgbClr val="2E75B6">
                <a:alpha val="35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772400" y="1463040"/>
            <a:ext cx="64008" cy="64008"/>
          </a:xfrm>
          <a:prstGeom prst="ellipse">
            <a:avLst/>
          </a:prstGeom>
          <a:solidFill>
            <a:srgbClr val="2E75B6">
              <a:alpha val="35000"/>
            </a:srgbClr>
          </a:solidFill>
          <a:ln w="12700">
            <a:solidFill>
              <a:srgbClr val="2E75B6">
                <a:alpha val="35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458200" y="1463040"/>
            <a:ext cx="64008" cy="64008"/>
          </a:xfrm>
          <a:prstGeom prst="ellipse">
            <a:avLst/>
          </a:prstGeom>
          <a:solidFill>
            <a:srgbClr val="2E75B6">
              <a:alpha val="35000"/>
            </a:srgbClr>
          </a:solidFill>
          <a:ln w="12700">
            <a:solidFill>
              <a:srgbClr val="2E75B6">
                <a:alpha val="35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144000" y="1463040"/>
            <a:ext cx="64008" cy="64008"/>
          </a:xfrm>
          <a:prstGeom prst="ellipse">
            <a:avLst/>
          </a:prstGeom>
          <a:solidFill>
            <a:srgbClr val="2E75B6">
              <a:alpha val="35000"/>
            </a:srgbClr>
          </a:solidFill>
          <a:ln w="12700">
            <a:solidFill>
              <a:srgbClr val="2E75B6">
                <a:alpha val="35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829800" y="1463040"/>
            <a:ext cx="64008" cy="64008"/>
          </a:xfrm>
          <a:prstGeom prst="ellipse">
            <a:avLst/>
          </a:prstGeom>
          <a:solidFill>
            <a:srgbClr val="2E75B6">
              <a:alpha val="35000"/>
            </a:srgbClr>
          </a:solidFill>
          <a:ln w="12700">
            <a:solidFill>
              <a:srgbClr val="2E75B6">
                <a:alpha val="35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515600" y="1463040"/>
            <a:ext cx="64008" cy="64008"/>
          </a:xfrm>
          <a:prstGeom prst="ellipse">
            <a:avLst/>
          </a:prstGeom>
          <a:solidFill>
            <a:srgbClr val="2E75B6">
              <a:alpha val="35000"/>
            </a:srgbClr>
          </a:solidFill>
          <a:ln w="12700">
            <a:solidFill>
              <a:srgbClr val="2E75B6">
                <a:alpha val="35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1201400" y="1463040"/>
            <a:ext cx="64008" cy="64008"/>
          </a:xfrm>
          <a:prstGeom prst="ellipse">
            <a:avLst/>
          </a:prstGeom>
          <a:solidFill>
            <a:srgbClr val="2E75B6">
              <a:alpha val="35000"/>
            </a:srgbClr>
          </a:solidFill>
          <a:ln w="12700">
            <a:solidFill>
              <a:srgbClr val="2E75B6">
                <a:alpha val="35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029200" y="2468880"/>
            <a:ext cx="64008" cy="64008"/>
          </a:xfrm>
          <a:prstGeom prst="ellipse">
            <a:avLst/>
          </a:prstGeom>
          <a:solidFill>
            <a:srgbClr val="2E75B6">
              <a:alpha val="35000"/>
            </a:srgbClr>
          </a:solidFill>
          <a:ln w="12700">
            <a:solidFill>
              <a:srgbClr val="2E75B6">
                <a:alpha val="35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715000" y="2468880"/>
            <a:ext cx="64008" cy="64008"/>
          </a:xfrm>
          <a:prstGeom prst="ellipse">
            <a:avLst/>
          </a:prstGeom>
          <a:solidFill>
            <a:srgbClr val="2E75B6">
              <a:alpha val="35000"/>
            </a:srgbClr>
          </a:solidFill>
          <a:ln w="12700">
            <a:solidFill>
              <a:srgbClr val="2E75B6">
                <a:alpha val="35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400800" y="2468880"/>
            <a:ext cx="64008" cy="64008"/>
          </a:xfrm>
          <a:prstGeom prst="ellipse">
            <a:avLst/>
          </a:prstGeom>
          <a:solidFill>
            <a:srgbClr val="2E75B6">
              <a:alpha val="35000"/>
            </a:srgbClr>
          </a:solidFill>
          <a:ln w="12700">
            <a:solidFill>
              <a:srgbClr val="2E75B6">
                <a:alpha val="35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086600" y="2468880"/>
            <a:ext cx="64008" cy="64008"/>
          </a:xfrm>
          <a:prstGeom prst="ellipse">
            <a:avLst/>
          </a:prstGeom>
          <a:solidFill>
            <a:srgbClr val="2E75B6">
              <a:alpha val="35000"/>
            </a:srgbClr>
          </a:solidFill>
          <a:ln w="12700">
            <a:solidFill>
              <a:srgbClr val="2E75B6">
                <a:alpha val="35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772400" y="2468880"/>
            <a:ext cx="64008" cy="64008"/>
          </a:xfrm>
          <a:prstGeom prst="ellipse">
            <a:avLst/>
          </a:prstGeom>
          <a:solidFill>
            <a:srgbClr val="2E75B6">
              <a:alpha val="35000"/>
            </a:srgbClr>
          </a:solidFill>
          <a:ln w="12700">
            <a:solidFill>
              <a:srgbClr val="2E75B6">
                <a:alpha val="35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458200" y="2468880"/>
            <a:ext cx="64008" cy="64008"/>
          </a:xfrm>
          <a:prstGeom prst="ellipse">
            <a:avLst/>
          </a:prstGeom>
          <a:solidFill>
            <a:srgbClr val="2E75B6">
              <a:alpha val="35000"/>
            </a:srgbClr>
          </a:solidFill>
          <a:ln w="12700">
            <a:solidFill>
              <a:srgbClr val="2E75B6">
                <a:alpha val="35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9144000" y="2468880"/>
            <a:ext cx="64008" cy="64008"/>
          </a:xfrm>
          <a:prstGeom prst="ellipse">
            <a:avLst/>
          </a:prstGeom>
          <a:solidFill>
            <a:srgbClr val="2E75B6">
              <a:alpha val="35000"/>
            </a:srgbClr>
          </a:solidFill>
          <a:ln w="12700">
            <a:solidFill>
              <a:srgbClr val="2E75B6">
                <a:alpha val="35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9829800" y="2468880"/>
            <a:ext cx="64008" cy="64008"/>
          </a:xfrm>
          <a:prstGeom prst="ellipse">
            <a:avLst/>
          </a:prstGeom>
          <a:solidFill>
            <a:srgbClr val="2E75B6">
              <a:alpha val="35000"/>
            </a:srgbClr>
          </a:solidFill>
          <a:ln w="12700">
            <a:solidFill>
              <a:srgbClr val="2E75B6">
                <a:alpha val="35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0515600" y="2468880"/>
            <a:ext cx="64008" cy="64008"/>
          </a:xfrm>
          <a:prstGeom prst="ellipse">
            <a:avLst/>
          </a:prstGeom>
          <a:solidFill>
            <a:srgbClr val="2E75B6">
              <a:alpha val="35000"/>
            </a:srgbClr>
          </a:solidFill>
          <a:ln w="12700">
            <a:solidFill>
              <a:srgbClr val="2E75B6">
                <a:alpha val="35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11201400" y="2468880"/>
            <a:ext cx="64008" cy="64008"/>
          </a:xfrm>
          <a:prstGeom prst="ellipse">
            <a:avLst/>
          </a:prstGeom>
          <a:solidFill>
            <a:srgbClr val="2E75B6">
              <a:alpha val="35000"/>
            </a:srgbClr>
          </a:solidFill>
          <a:ln w="12700">
            <a:solidFill>
              <a:srgbClr val="2E75B6">
                <a:alpha val="35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5029200" y="3474720"/>
            <a:ext cx="64008" cy="64008"/>
          </a:xfrm>
          <a:prstGeom prst="ellipse">
            <a:avLst/>
          </a:prstGeom>
          <a:solidFill>
            <a:srgbClr val="2E75B6">
              <a:alpha val="35000"/>
            </a:srgbClr>
          </a:solidFill>
          <a:ln w="12700">
            <a:solidFill>
              <a:srgbClr val="2E75B6">
                <a:alpha val="35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715000" y="3474720"/>
            <a:ext cx="64008" cy="64008"/>
          </a:xfrm>
          <a:prstGeom prst="ellipse">
            <a:avLst/>
          </a:prstGeom>
          <a:solidFill>
            <a:srgbClr val="2E75B6">
              <a:alpha val="35000"/>
            </a:srgbClr>
          </a:solidFill>
          <a:ln w="12700">
            <a:solidFill>
              <a:srgbClr val="2E75B6">
                <a:alpha val="35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400800" y="3474720"/>
            <a:ext cx="64008" cy="64008"/>
          </a:xfrm>
          <a:prstGeom prst="ellipse">
            <a:avLst/>
          </a:prstGeom>
          <a:solidFill>
            <a:srgbClr val="2E75B6">
              <a:alpha val="35000"/>
            </a:srgbClr>
          </a:solidFill>
          <a:ln w="12700">
            <a:solidFill>
              <a:srgbClr val="2E75B6">
                <a:alpha val="3500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086600" y="3474720"/>
            <a:ext cx="64008" cy="64008"/>
          </a:xfrm>
          <a:prstGeom prst="ellipse">
            <a:avLst/>
          </a:prstGeom>
          <a:solidFill>
            <a:srgbClr val="2E75B6">
              <a:alpha val="35000"/>
            </a:srgbClr>
          </a:solidFill>
          <a:ln w="12700">
            <a:solidFill>
              <a:srgbClr val="2E75B6">
                <a:alpha val="3500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7772400" y="3474720"/>
            <a:ext cx="64008" cy="64008"/>
          </a:xfrm>
          <a:prstGeom prst="ellipse">
            <a:avLst/>
          </a:prstGeom>
          <a:solidFill>
            <a:srgbClr val="2E75B6">
              <a:alpha val="35000"/>
            </a:srgbClr>
          </a:solidFill>
          <a:ln w="12700">
            <a:solidFill>
              <a:srgbClr val="2E75B6">
                <a:alpha val="3500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8458200" y="3474720"/>
            <a:ext cx="64008" cy="64008"/>
          </a:xfrm>
          <a:prstGeom prst="ellipse">
            <a:avLst/>
          </a:prstGeom>
          <a:solidFill>
            <a:srgbClr val="2E75B6">
              <a:alpha val="35000"/>
            </a:srgbClr>
          </a:solidFill>
          <a:ln w="12700">
            <a:solidFill>
              <a:srgbClr val="2E75B6">
                <a:alpha val="3500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9144000" y="3474720"/>
            <a:ext cx="64008" cy="64008"/>
          </a:xfrm>
          <a:prstGeom prst="ellipse">
            <a:avLst/>
          </a:prstGeom>
          <a:solidFill>
            <a:srgbClr val="2E75B6">
              <a:alpha val="35000"/>
            </a:srgbClr>
          </a:solidFill>
          <a:ln w="12700">
            <a:solidFill>
              <a:srgbClr val="2E75B6">
                <a:alpha val="3500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9829800" y="3474720"/>
            <a:ext cx="64008" cy="64008"/>
          </a:xfrm>
          <a:prstGeom prst="ellipse">
            <a:avLst/>
          </a:prstGeom>
          <a:solidFill>
            <a:srgbClr val="2E75B6">
              <a:alpha val="35000"/>
            </a:srgbClr>
          </a:solidFill>
          <a:ln w="12700">
            <a:solidFill>
              <a:srgbClr val="2E75B6">
                <a:alpha val="3500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10515600" y="3474720"/>
            <a:ext cx="64008" cy="64008"/>
          </a:xfrm>
          <a:prstGeom prst="ellipse">
            <a:avLst/>
          </a:prstGeom>
          <a:solidFill>
            <a:srgbClr val="2E75B6">
              <a:alpha val="35000"/>
            </a:srgbClr>
          </a:solidFill>
          <a:ln w="12700">
            <a:solidFill>
              <a:srgbClr val="2E75B6">
                <a:alpha val="3500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11201400" y="3474720"/>
            <a:ext cx="64008" cy="64008"/>
          </a:xfrm>
          <a:prstGeom prst="ellipse">
            <a:avLst/>
          </a:prstGeom>
          <a:solidFill>
            <a:srgbClr val="2E75B6">
              <a:alpha val="35000"/>
            </a:srgbClr>
          </a:solidFill>
          <a:ln w="12700">
            <a:solidFill>
              <a:srgbClr val="2E75B6">
                <a:alpha val="35000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5029200" y="4480560"/>
            <a:ext cx="64008" cy="64008"/>
          </a:xfrm>
          <a:prstGeom prst="ellipse">
            <a:avLst/>
          </a:prstGeom>
          <a:solidFill>
            <a:srgbClr val="2E75B6">
              <a:alpha val="35000"/>
            </a:srgbClr>
          </a:solidFill>
          <a:ln w="12700">
            <a:solidFill>
              <a:srgbClr val="2E75B6">
                <a:alpha val="35000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5715000" y="4480560"/>
            <a:ext cx="64008" cy="64008"/>
          </a:xfrm>
          <a:prstGeom prst="ellipse">
            <a:avLst/>
          </a:prstGeom>
          <a:solidFill>
            <a:srgbClr val="2E75B6">
              <a:alpha val="35000"/>
            </a:srgbClr>
          </a:solidFill>
          <a:ln w="12700">
            <a:solidFill>
              <a:srgbClr val="2E75B6">
                <a:alpha val="35000"/>
              </a:srgbClr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6400800" y="4480560"/>
            <a:ext cx="64008" cy="64008"/>
          </a:xfrm>
          <a:prstGeom prst="ellipse">
            <a:avLst/>
          </a:prstGeom>
          <a:solidFill>
            <a:srgbClr val="2E75B6">
              <a:alpha val="35000"/>
            </a:srgbClr>
          </a:solidFill>
          <a:ln w="12700">
            <a:solidFill>
              <a:srgbClr val="2E75B6">
                <a:alpha val="35000"/>
              </a:srgbClr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7086600" y="4480560"/>
            <a:ext cx="64008" cy="64008"/>
          </a:xfrm>
          <a:prstGeom prst="ellipse">
            <a:avLst/>
          </a:prstGeom>
          <a:solidFill>
            <a:srgbClr val="2E75B6">
              <a:alpha val="35000"/>
            </a:srgbClr>
          </a:solidFill>
          <a:ln w="12700">
            <a:solidFill>
              <a:srgbClr val="2E75B6">
                <a:alpha val="35000"/>
              </a:srgbClr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7772400" y="4480560"/>
            <a:ext cx="64008" cy="64008"/>
          </a:xfrm>
          <a:prstGeom prst="ellipse">
            <a:avLst/>
          </a:prstGeom>
          <a:solidFill>
            <a:srgbClr val="2E75B6">
              <a:alpha val="35000"/>
            </a:srgbClr>
          </a:solidFill>
          <a:ln w="12700">
            <a:solidFill>
              <a:srgbClr val="2E75B6">
                <a:alpha val="35000"/>
              </a:srgbClr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8458200" y="4480560"/>
            <a:ext cx="64008" cy="64008"/>
          </a:xfrm>
          <a:prstGeom prst="ellipse">
            <a:avLst/>
          </a:prstGeom>
          <a:solidFill>
            <a:srgbClr val="2E75B6">
              <a:alpha val="35000"/>
            </a:srgbClr>
          </a:solidFill>
          <a:ln w="12700">
            <a:solidFill>
              <a:srgbClr val="2E75B6">
                <a:alpha val="35000"/>
              </a:srgbClr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9144000" y="4480560"/>
            <a:ext cx="64008" cy="64008"/>
          </a:xfrm>
          <a:prstGeom prst="ellipse">
            <a:avLst/>
          </a:prstGeom>
          <a:solidFill>
            <a:srgbClr val="2E75B6">
              <a:alpha val="35000"/>
            </a:srgbClr>
          </a:solidFill>
          <a:ln w="12700">
            <a:solidFill>
              <a:srgbClr val="2E75B6">
                <a:alpha val="35000"/>
              </a:srgbClr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9829800" y="4480560"/>
            <a:ext cx="64008" cy="64008"/>
          </a:xfrm>
          <a:prstGeom prst="ellipse">
            <a:avLst/>
          </a:prstGeom>
          <a:solidFill>
            <a:srgbClr val="2E75B6">
              <a:alpha val="35000"/>
            </a:srgbClr>
          </a:solidFill>
          <a:ln w="12700">
            <a:solidFill>
              <a:srgbClr val="2E75B6">
                <a:alpha val="35000"/>
              </a:srgbClr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10515600" y="4480560"/>
            <a:ext cx="64008" cy="64008"/>
          </a:xfrm>
          <a:prstGeom prst="ellipse">
            <a:avLst/>
          </a:prstGeom>
          <a:solidFill>
            <a:srgbClr val="2E75B6">
              <a:alpha val="35000"/>
            </a:srgbClr>
          </a:solidFill>
          <a:ln w="12700">
            <a:solidFill>
              <a:srgbClr val="2E75B6">
                <a:alpha val="35000"/>
              </a:srgbClr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11201400" y="4480560"/>
            <a:ext cx="64008" cy="64008"/>
          </a:xfrm>
          <a:prstGeom prst="ellipse">
            <a:avLst/>
          </a:prstGeom>
          <a:solidFill>
            <a:srgbClr val="2E75B6">
              <a:alpha val="35000"/>
            </a:srgbClr>
          </a:solidFill>
          <a:ln w="12700">
            <a:solidFill>
              <a:srgbClr val="2E75B6">
                <a:alpha val="35000"/>
              </a:srgbClr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5029200" y="5486400"/>
            <a:ext cx="64008" cy="64008"/>
          </a:xfrm>
          <a:prstGeom prst="ellipse">
            <a:avLst/>
          </a:prstGeom>
          <a:solidFill>
            <a:srgbClr val="2E75B6">
              <a:alpha val="35000"/>
            </a:srgbClr>
          </a:solidFill>
          <a:ln w="12700">
            <a:solidFill>
              <a:srgbClr val="2E75B6">
                <a:alpha val="35000"/>
              </a:srgbClr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5715000" y="5486400"/>
            <a:ext cx="64008" cy="64008"/>
          </a:xfrm>
          <a:prstGeom prst="ellipse">
            <a:avLst/>
          </a:prstGeom>
          <a:solidFill>
            <a:srgbClr val="2E75B6">
              <a:alpha val="35000"/>
            </a:srgbClr>
          </a:solidFill>
          <a:ln w="12700">
            <a:solidFill>
              <a:srgbClr val="2E75B6">
                <a:alpha val="35000"/>
              </a:srgbClr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6400800" y="5486400"/>
            <a:ext cx="64008" cy="64008"/>
          </a:xfrm>
          <a:prstGeom prst="ellipse">
            <a:avLst/>
          </a:prstGeom>
          <a:solidFill>
            <a:srgbClr val="2E75B6">
              <a:alpha val="35000"/>
            </a:srgbClr>
          </a:solidFill>
          <a:ln w="12700">
            <a:solidFill>
              <a:srgbClr val="2E75B6">
                <a:alpha val="35000"/>
              </a:srgbClr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7086600" y="5486400"/>
            <a:ext cx="64008" cy="64008"/>
          </a:xfrm>
          <a:prstGeom prst="ellipse">
            <a:avLst/>
          </a:prstGeom>
          <a:solidFill>
            <a:srgbClr val="2E75B6">
              <a:alpha val="35000"/>
            </a:srgbClr>
          </a:solidFill>
          <a:ln w="12700">
            <a:solidFill>
              <a:srgbClr val="2E75B6">
                <a:alpha val="35000"/>
              </a:srgbClr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7772400" y="5486400"/>
            <a:ext cx="64008" cy="64008"/>
          </a:xfrm>
          <a:prstGeom prst="ellipse">
            <a:avLst/>
          </a:prstGeom>
          <a:solidFill>
            <a:srgbClr val="2E75B6">
              <a:alpha val="35000"/>
            </a:srgbClr>
          </a:solidFill>
          <a:ln w="12700">
            <a:solidFill>
              <a:srgbClr val="2E75B6">
                <a:alpha val="35000"/>
              </a:srgbClr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8458200" y="5486400"/>
            <a:ext cx="64008" cy="64008"/>
          </a:xfrm>
          <a:prstGeom prst="ellipse">
            <a:avLst/>
          </a:prstGeom>
          <a:solidFill>
            <a:srgbClr val="2E75B6">
              <a:alpha val="35000"/>
            </a:srgbClr>
          </a:solidFill>
          <a:ln w="12700">
            <a:solidFill>
              <a:srgbClr val="2E75B6">
                <a:alpha val="35000"/>
              </a:srgbClr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9144000" y="5486400"/>
            <a:ext cx="64008" cy="64008"/>
          </a:xfrm>
          <a:prstGeom prst="ellipse">
            <a:avLst/>
          </a:prstGeom>
          <a:solidFill>
            <a:srgbClr val="2E75B6">
              <a:alpha val="35000"/>
            </a:srgbClr>
          </a:solidFill>
          <a:ln w="12700">
            <a:solidFill>
              <a:srgbClr val="2E75B6">
                <a:alpha val="35000"/>
              </a:srgbClr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9829800" y="5486400"/>
            <a:ext cx="64008" cy="64008"/>
          </a:xfrm>
          <a:prstGeom prst="ellipse">
            <a:avLst/>
          </a:prstGeom>
          <a:solidFill>
            <a:srgbClr val="2E75B6">
              <a:alpha val="35000"/>
            </a:srgbClr>
          </a:solidFill>
          <a:ln w="12700">
            <a:solidFill>
              <a:srgbClr val="2E75B6">
                <a:alpha val="35000"/>
              </a:srgbClr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10515600" y="5486400"/>
            <a:ext cx="64008" cy="64008"/>
          </a:xfrm>
          <a:prstGeom prst="ellipse">
            <a:avLst/>
          </a:prstGeom>
          <a:solidFill>
            <a:srgbClr val="2E75B6">
              <a:alpha val="35000"/>
            </a:srgbClr>
          </a:solidFill>
          <a:ln w="12700">
            <a:solidFill>
              <a:srgbClr val="2E75B6">
                <a:alpha val="35000"/>
              </a:srgbClr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11201400" y="5486400"/>
            <a:ext cx="64008" cy="64008"/>
          </a:xfrm>
          <a:prstGeom prst="ellipse">
            <a:avLst/>
          </a:prstGeom>
          <a:solidFill>
            <a:srgbClr val="2E75B6">
              <a:alpha val="35000"/>
            </a:srgbClr>
          </a:solidFill>
          <a:ln w="12700">
            <a:solidFill>
              <a:srgbClr val="2E75B6">
                <a:alpha val="35000"/>
              </a:srgbClr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457200" y="1097280"/>
            <a:ext cx="5486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5200" dirty="0"/>
          </a:p>
        </p:txBody>
      </p:sp>
      <p:sp>
        <p:nvSpPr>
          <p:cNvPr id="64" name="Text 62"/>
          <p:cNvSpPr/>
          <p:nvPr/>
        </p:nvSpPr>
        <p:spPr>
          <a:xfrm>
            <a:off x="457200" y="2194560"/>
            <a:ext cx="5486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BDD7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2600" dirty="0"/>
          </a:p>
        </p:txBody>
      </p:sp>
      <p:sp>
        <p:nvSpPr>
          <p:cNvPr id="65" name="Shape 63"/>
          <p:cNvSpPr/>
          <p:nvPr/>
        </p:nvSpPr>
        <p:spPr>
          <a:xfrm>
            <a:off x="457200" y="2971800"/>
            <a:ext cx="5029200" cy="4572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457200" y="3200400"/>
            <a:ext cx="5943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Governance Lead: 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Mihir Trivedi</a:t>
            </a:r>
            <a:endParaRPr lang="en-US" sz="1400" dirty="0"/>
          </a:p>
        </p:txBody>
      </p:sp>
      <p:sp>
        <p:nvSpPr>
          <p:cNvPr id="67" name="Text 65"/>
          <p:cNvSpPr/>
          <p:nvPr/>
        </p:nvSpPr>
        <p:spPr>
          <a:xfrm>
            <a:off x="457200" y="3675888"/>
            <a:ext cx="5943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Suite: 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AIN-GOV-001 through AIN-GOV-005</a:t>
            </a:r>
            <a:endParaRPr lang="en-US" sz="1400" dirty="0"/>
          </a:p>
        </p:txBody>
      </p:sp>
      <p:sp>
        <p:nvSpPr>
          <p:cNvPr id="68" name="Text 66"/>
          <p:cNvSpPr/>
          <p:nvPr/>
        </p:nvSpPr>
        <p:spPr>
          <a:xfrm>
            <a:off x="457200" y="4151376"/>
            <a:ext cx="5943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Classification: 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— not for external distribution</a:t>
            </a:r>
            <a:endParaRPr lang="en-US" sz="1400" dirty="0"/>
          </a:p>
        </p:txBody>
      </p:sp>
      <p:sp>
        <p:nvSpPr>
          <p:cNvPr id="69" name="Text 67"/>
          <p:cNvSpPr/>
          <p:nvPr/>
        </p:nvSpPr>
        <p:spPr>
          <a:xfrm>
            <a:off x="457200" y="4626864"/>
            <a:ext cx="5943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Effective Date: 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February 2026  |  Next Review: Jan 2027</a:t>
            </a:r>
            <a:endParaRPr lang="en-US" sz="1400" dirty="0"/>
          </a:p>
        </p:txBody>
      </p:sp>
      <p:sp>
        <p:nvSpPr>
          <p:cNvPr id="70" name="Text 68"/>
          <p:cNvSpPr/>
          <p:nvPr/>
        </p:nvSpPr>
        <p:spPr>
          <a:xfrm>
            <a:off x="6675120" y="1097280"/>
            <a:ext cx="53035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INDEX</a:t>
            </a:r>
            <a:endParaRPr lang="en-US" sz="1500" dirty="0"/>
          </a:p>
        </p:txBody>
      </p:sp>
      <p:sp>
        <p:nvSpPr>
          <p:cNvPr id="71" name="Text 69"/>
          <p:cNvSpPr/>
          <p:nvPr/>
        </p:nvSpPr>
        <p:spPr>
          <a:xfrm>
            <a:off x="6675120" y="1591056"/>
            <a:ext cx="530352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AIN-GOV-001  AI Governance Policy</a:t>
            </a:r>
            <a:endParaRPr lang="en-US" sz="14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AIN-GOV-002  Bias Assessment Methodology</a:t>
            </a:r>
            <a:endParaRPr lang="en-US" sz="14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AIN-GOV-004  AI Incident Response Plan</a:t>
            </a:r>
            <a:endParaRPr lang="en-US" sz="14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AIN-GOV-005  AI Risk Assessment Framework</a:t>
            </a:r>
            <a:endParaRPr lang="en-US" sz="14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AIN-MC-001    GenStudio v1.0 Model Card</a:t>
            </a:r>
            <a:endParaRPr lang="en-US" sz="1400" dirty="0"/>
          </a:p>
        </p:txBody>
      </p:sp>
      <p:sp>
        <p:nvSpPr>
          <p:cNvPr id="72" name="Text 70"/>
          <p:cNvSpPr/>
          <p:nvPr/>
        </p:nvSpPr>
        <p:spPr>
          <a:xfrm>
            <a:off x="457200" y="6355080"/>
            <a:ext cx="115488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BDD7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AInnovate Inc.  ·  AI Governance Framework  ·  Version 1.0  ·  February 2026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AInnovate AI Governance Framework – Board Overview</dc:title>
  <dc:subject>PptxGenJS Presentation</dc:subject>
  <dc:creator>Mihir Trivedi, AI Governance Lead</dc:creator>
  <cp:lastModifiedBy>Mihir Trivedi, AI Governance Lead</cp:lastModifiedBy>
  <cp:revision>1</cp:revision>
  <dcterms:created xsi:type="dcterms:W3CDTF">2026-03-14T22:23:00Z</dcterms:created>
  <dcterms:modified xsi:type="dcterms:W3CDTF">2026-03-14T22:23:00Z</dcterms:modified>
</cp:coreProperties>
</file>